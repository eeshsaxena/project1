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64" r:id="rId2"/>
    <p:sldId id="268" r:id="rId3"/>
    <p:sldId id="269" r:id="rId4"/>
    <p:sldId id="258" r:id="rId5"/>
    <p:sldId id="267" r:id="rId6"/>
    <p:sldId id="260" r:id="rId7"/>
    <p:sldId id="265" r:id="rId8"/>
    <p:sldId id="263" r:id="rId9"/>
    <p:sldId id="261" r:id="rId10"/>
    <p:sldId id="256" r:id="rId11"/>
  </p:sldIdLst>
  <p:sldSz cx="9144000" cy="5143500" type="screen16x9"/>
  <p:notesSz cx="6858000" cy="9144000"/>
  <p:embeddedFontLst>
    <p:embeddedFont>
      <p:font typeface="Old Standard TT" panose="020B0604020202020204" charset="0"/>
      <p:regular r:id="rId13"/>
      <p:bold r:id="rId14"/>
      <p: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6:54:49.566"/>
    </inkml:context>
    <inkml:brush xml:id="br0">
      <inkml:brushProperty name="width" value="0.035" units="cm"/>
      <inkml:brushProperty name="height" value="0.035" units="cm"/>
    </inkml:brush>
  </inkml:definitions>
  <inkml:trace contextRef="#ctx0" brushRef="#br0">1511 1790 24575,'28'25'0,"0"-1"0,36 23 0,-15-12 0,128 95 0,217 166 0,-383-287 0,-2-3 0,-1 1 0,0 0 0,0 1 0,7 9 0,-14-16 0,-1-1 0,1 0 0,-1 1 0,0-1 0,1 0 0,-1 1 0,0-1 0,0 0 0,1 1 0,-1-1 0,0 1 0,0-1 0,0 1 0,0-1 0,1 1 0,-1-1 0,0 0 0,0 1 0,0-1 0,0 1 0,0-1 0,0 1 0,0-1 0,0 1 0,0-1 0,0 1 0,-1-1 0,1 1 0,0-1 0,-1 1 0,-13 2 0,-26-13 0,-49-24 0,2-5 0,-125-73 0,151 77 0,-271-159 0,326 191 0,1-1 0,-1 0 0,1 1 0,0-1 0,0-1 0,-5-5 0,9 9 0,1 0 0,-1 0 0,0 0 0,1 0 0,-1 0 0,1 0 0,-1 0 0,1 0 0,-1 0 0,1 0 0,0 0 0,0-1 0,-1 1 0,1 0 0,0 0 0,0 0 0,0 0 0,0 0 0,0 0 0,1 0 0,-1-1 0,0 1 0,0 0 0,1 0 0,-1 0 0,1 0 0,-1 0 0,1 0 0,-1 0 0,1 0 0,0 0 0,-1 0 0,1 1 0,0-1 0,0 0 0,0 0 0,-1 0 0,1 1 0,0-1 0,0 1 0,0-1 0,0 1 0,2-2 0,37-18 0,1 2 0,0 1 0,70-18 0,-39 13 0,305-90 0,-369 110 0,-4 0 0,0 1 0,0 0 0,1 0 0,-1 1 0,1-1 0,8 1 0,-13 1 0,-1-1 0,1 1 0,0-1 0,0 1 0,-1 0 0,1-1 0,0 1 0,-1-1 0,1 1 0,-1-1 0,1 1 0,-1-1 0,1 1 0,-1-1 0,1 0 0,-1 1 0,1-1 0,-1 0 0,0 1 0,1-1 0,-1 0 0,1 0 0,-1 1 0,-1-1 0,-22 13 0,-54 15 0,-2-3 0,-90 16 0,161-39 0,-35 6 0,42-8 0,-1 1 0,1-1 0,-1 0 0,1 0 0,-1 0 0,1 0 0,-1-1 0,1 1 0,-1-1 0,1 1 0,-1-1 0,-3-2 0,5 3 0,1 0 0,0 0 0,0 0 0,0 0 0,0-1 0,-1 1 0,1 0 0,0 0 0,0-1 0,0 1 0,0 0 0,0 0 0,0 0 0,0-1 0,0 1 0,0 0 0,0 0 0,-1-1 0,1 1 0,0 0 0,0 0 0,1-1 0,-1 1 0,0 0 0,0 0 0,0-1 0,0 1 0,0 0 0,0 0 0,0-1 0,0 1 0,0 0 0,0 0 0,1-1 0,-1 1 0,0 0 0,0 0 0,0 0 0,0 0 0,1-1 0,-1 1 0,0 0 0,0 0 0,0 0 0,1 0 0,-1 0 0,0 0 0,0-1 0,1 1 0,-1 0 0,15-8 0,-15 8 0,24-9 0,0 1 0,0 1 0,1 2 0,0 0 0,34-2 0,130 3 0,-177 7 0,-14 3 0,-21 8 0,-17 2 0,-1-2 0,0-1 0,-78 12 0,47-15 0,-109 1 0,170-11 0,-22 1 0,30-4 0,21-3 0,289-92 0,-121 37 0,-100 34 0,330-94 0,-400 117 0,-9 2 0,0 0 0,-1 0 0,1 1 0,0 0 0,0 1 0,-1-1 0,13 2 0,-19-1 0,0 0 0,1 0 0,-1 0 0,0 0 0,0 0 0,0 0 0,1 1 0,-1-1 0,0 0 0,0 0 0,0 0 0,1 0 0,-1 0 0,0 1 0,0-1 0,0 0 0,0 0 0,0 0 0,1 0 0,-1 1 0,0-1 0,0 0 0,0 0 0,0 1 0,0-1 0,0 0 0,0 0 0,0 0 0,0 1 0,0-1 0,0 0 0,0 0 0,0 1 0,0-1 0,0 0 0,0 0 0,0 1 0,0-1 0,0 0 0,0 0 0,0 0 0,0 1 0,0-1 0,0 0 0,-1 0 0,1 0 0,0 1 0,0-1 0,0 0 0,0 0 0,-1 0 0,1 0 0,0 1 0,0-1 0,0 0 0,-1 0 0,1 0 0,0 0 0,0 0 0,0 0 0,-1 0 0,1 0 0,0 1 0,-16 10 0,-34 16 0,0-2 0,-90 31 0,-115 17 0,233-68 0,-1-2 0,1 0 0,-1-1 0,0-1 0,1-1 0,-1-1 0,0-1 0,-27-6 0,13 3 0,1 1 0,0 2 0,-40 3 0,-106 17 0,126-12 0,-40 5 0,-296 20 0,466-41 0,762-25 0,-808 38 0,-28-3 0,1 0 0,-1 0 0,1 0 0,-1 0 0,0 0 0,1 0 0,-1 0 0,1 0 0,-1 0 0,0 0 0,1 1 0,-1-1 0,0 0 0,1 0 0,-1 0 0,0 1 0,1-1 0,-1 0 0,0 1 0,0-1 0,1 0 0,-1 0 0,0 1 0,0-1 0,0 0 0,1 1 0,-1-1 0,0 1 0,0-1 0,0 0 0,0 1 0,0-1 0,0 0 0,0 1 0,0-1 0,1 1 0,-2-1 0,1 0 0,0 1 0,0-1 0,0 1 0,0-1 0,0 0 0,0 1 0,0-1 0,0 0 0,-1 1 0,1-1 0,0 1 0,0-1 0,0 0 0,-1 0 0,1 1 0,0-1 0,0 0 0,-1 1 0,1-1 0,0 0 0,-1 0 0,1 1 0,0-1 0,-1 0 0,1 0 0,0 0 0,-1 0 0,-16 12 0,0-1 0,-1-1 0,0-1 0,-1 0 0,-27 8 0,20-7 0,-215 73 0,190-75 0,29-5 0,54 1 0,255 21 0,349 10 0,-1229-37 0,580 0 0,16-5 0,22-10 0,-24 17 0,520-252 0,-496 243 0,-19 9 0,-11 6 0,-14 7 0,-50 24 0,-2-3 0,-102 33 0,144-59 0,0-1 0,0-1 0,-1-2 0,-39 1 0,-121-8 0,83 0 0,146 3 0,96-1 0,265 34 0,-371-30 0,19 4 0,-45-7 0,0 1 0,0 0 0,0 0 0,0 0 0,-1 0 0,1 0 0,0 1 0,-1-1 0,1 1 0,-1-1 0,0 1 0,3 2 0,-5-3 0,1 0 0,-1 0 0,1-1 0,-1 1 0,0 0 0,0 0 0,1 0 0,-1 0 0,0 0 0,0-1 0,0 1 0,0 0 0,0 0 0,0 0 0,0 0 0,0 0 0,-1 0 0,1-1 0,0 1 0,0 0 0,-1 0 0,1 0 0,0-1 0,-1 1 0,1 0 0,-1 0 0,1-1 0,-1 1 0,0 0 0,1-1 0,-1 1 0,1-1 0,-1 1 0,-1 0 0,-27 20 0,4-8 0,-1-1 0,0-1 0,-1-1 0,-36 8 0,-115 15 0,167-31 0,0-1 0,0 0 0,-20-1 0,31-1 0,1 1 0,-1 0 0,0 0 0,1 0 0,-1 0 0,0-1 0,0 1 0,1 0 0,-1 0 0,0-1 0,0 1 0,1 0 0,-1 0 0,0-1 0,0 1 0,0 0 0,1-1 0,-1 1 0,0 0 0,0-1 0,0 1 0,0 0 0,0-1 0,0 1 0,0 0 0,0-1 0,0 1 0,0-1 0,0 1 0,0 0 0,0-1 0,0 1 0,0 0 0,0-1 0,0 1 0,0 0 0,0-1 0,0 1 0,-1 0 0,1-1 0,0 1 0,0 0 0,0-1 0,-1 1 0,1 0 0,0 0 0,0-1 0,-1 1 0,1 0 0,0 0 0,-1 0 0,1-1 0,0 1 0,-1 0 0,1 0 0,0 0 0,-1 0 0,1 0 0,0 0 0,-1-1 0,1 1 0,0 0 0,-1 0 0,1 0 0,0 0 0,-1 1 0,28-19 0,45-16 0,2 3 0,1 3 0,124-28 0,-182 50 0,-36 3 0,11 2 0,-391-69-9,262 43-106,-720-154-509,837 176 624,13 4 0,-1 0 0,1-1 0,0 0 0,0-1 0,0 0 0,0 0 0,-8-5 0,15 8 6,-1 0 0,1 0 0,0 0 0,-1 0 0,1-1-1,0 1 1,-1 0 0,1 0 0,0 0 0,0-1 0,-1 1 0,1 0-1,0 0 1,0-1 0,0 1 0,-1 0 0,1 0 0,0-1-1,0 1 1,0 0 0,0-1 0,0 1 0,0 0 0,-1-1-1,1 1 1,0 0 0,0-1 0,0 1 0,0 0 0,0-1 0,0 1-1,0 0 1,0-1 0,1 1 0,-1 0 0,0-1 0,0 1-1,0 0 1,0-1 0,0 1 0,0 0 0,1 0 0,-1-1 0,0 1-1,0 0 1,0-1 0,1 1 0,-1 0 0,0 0 0,0 0-1,1-1 1,-1 1 0,0 0 0,1 0 0,-1 0 0,0 0-1,1-1 1,-1 1 0,0 0 0,1 0 0,-1 0 0,0 0 0,1 0-1,27-7 369,21 3-374,1 1 0,94 7 0,96 27 0,-225-29 0,102 16 0,181 53 0,-294-70 0,1 0 0,-1 1 0,0 0 0,1-1 0,-1 2 0,0-1 0,0 0 0,0 1 0,-1-1 0,6 6 0,-8-7 0,-1 0 0,1 0 0,-1-1 0,1 1 0,-1 0 0,1 1 0,-1-1 0,1 0 0,-1 0 0,0 0 0,0 0 0,1 0 0,-1 0 0,0 0 0,0 0 0,0 1 0,-1 0 0,1 1 0,-1 0 0,0-1 0,0 1 0,0-1 0,0 1 0,-1-1 0,1 0 0,0 1 0,-4 3 0,-7 7 0,0-1 0,-1 0 0,0-1 0,-28 18 0,-65 33 0,74-44 0,-34 19 0,65-36 0,1-1 0,-1 0 0,0 1 0,0-1 0,1 1 0,-1-1 0,0 1 0,1-1 0,-1 1 0,1-1 0,-1 1 0,1 0 0,-1-1 0,1 1 0,-1 0 0,1-1 0,0 1 0,-1 0 0,1 0 0,0-1 0,-1 3 0,2-3 0,-1 1 0,0-1 0,1 1 0,-1-1 0,0 1 0,1-1 0,-1 1 0,1-1 0,-1 0 0,0 1 0,1-1 0,-1 0 0,1 1 0,-1-1 0,1 0 0,0 1 0,-1-1 0,1 0 0,-1 0 0,1 0 0,-1 0 0,2 1 0,44 4 0,119-8 0,200-30 0,-220 17 0,-57 8 0,-38 4 0,-37 3 0,-12 0 0,-3 1 0,-213 9 0,-85-1 0,255-8 0,-320-14 0,359 13 0,2 2 0,0-1 0,1-1 0,-1 1 0,0 0 0,1-1 0,-1 0 0,1 0 0,-1 0 0,0 0 0,1 0 0,0-1 0,-1 1 0,-3-4 0,7 5 0,0 0 0,0-1 0,0 1 0,0 0 0,0-1 0,0 1 0,0 0 0,0-1 0,0 1 0,0 0 0,0-1 0,1 1 0,-1 0 0,0-1 0,0 1 0,0 0 0,0 0 0,0-1 0,1 1 0,-1 0 0,0 0 0,0-1 0,1 1 0,-1 0 0,0 0 0,0-1 0,1 1 0,-1 0 0,0 0 0,1 0 0,-1 0 0,0 0 0,0-1 0,1 1 0,-1 0 0,1 0 0,14-5 0,26-1 0,1 1 0,-1 2 0,48 3 0,-35 0 0,478 0 0,-523 0 0,-6-1 0,0 1 0,0 0 0,0-1 0,0 1 0,1 1 0,-1-1 0,0 0 0,0 1 0,0 0 0,0-1 0,0 1 0,0 0 0,-1 1 0,6 2 0,-10-2 0,1 0 0,-1 0 0,0 0 0,0 0 0,0-1 0,0 1 0,0 0 0,-1-1 0,1 1 0,0-1 0,-4 1 0,4-1 0,-17 9 0,-1-1 0,0-1 0,0-1 0,-1 0 0,0-2 0,0-1 0,-1 0 0,-28 1 0,3-4 0,1-1 0,-85-13 0,122 12 0,1-1 0,0 0 0,0 0 0,0-1 0,-13-6 0,21 9 0,-1 0 0,1 0 0,-1-1 0,1 1 0,-1 0 0,1 0 0,-1-1 0,1 1 0,-1-1 0,1 1 0,-1 0 0,1-1 0,0 1 0,-1-1 0,1 1 0,0-1 0,-1 1 0,1-1 0,0 1 0,0-1 0,0 1 0,-1-1 0,1 0 0,0 1 0,0-1 0,0 1 0,0-1 0,0 1 0,0-1 0,0 0 0,0 1 0,0-1 0,2-1 0,-1 0 0,1 1 0,-1-1 0,1 1 0,0-1 0,0 1 0,-1 0 0,1-1 0,0 1 0,0 0 0,0 1 0,0-1 0,1 0 0,1 0 0,32-11 0,1 3 0,-1 1 0,2 1 0,46-1 0,155 4 0,-233 4 0,31 3 0,-36-3 0,-1 0 0,1 0 0,-1 1 0,1-1 0,0 0 0,-1 0 0,1 0 0,-1 1 0,1-1 0,-1 0 0,1 1 0,-1-1 0,0 0 0,1 1 0,-1-1 0,1 1 0,-1-1 0,0 1 0,1-1 0,-1 1 0,0-1 0,0 1 0,1-1 0,-1 1 0,0-1 0,0 1 0,0-1 0,0 1 0,0 0 0,0-1 0,0 1 0,0-1 0,0 1 0,0-1 0,0 1 0,0 0 0,0-1 0,0 1 0,0-1 0,0 1 0,-1-1 0,1 1 0,0-1 0,0 1 0,-1-1 0,1 1 0,0-1 0,-1 1 0,1-1 0,-1 1 0,1-1 0,0 0 0,-2 1 0,-4 6 0,0 0 0,-1 0 0,0 0 0,0-1 0,-1 0 0,0-1 0,0 0 0,0 0 0,-9 4 0,-16 5 0,-36 11 0,34-14 0,-133 38 0,166-49 0,0 1 0,0-1 0,0 0 0,1 1 0,-1 0 0,0-1 0,0 1 0,1 0 0,-1 0 0,0 0 0,1 0 0,-3 1 0,4-1 0,0-1 0,0 0 0,0 1 0,0-1 0,0 0 0,0 1 0,0-1 0,0 1 0,0-1 0,1 0 0,-1 1 0,0-1 0,0 0 0,0 1 0,0-1 0,1 0 0,-1 0 0,0 1 0,0-1 0,0 0 0,1 1 0,-1-1 0,0 0 0,1 0 0,-1 0 0,0 1 0,1-1 0,-1 0 0,0 0 0,1 0 0,-1 0 0,0 0 0,1 1 0,-1-1 0,0 0 0,1 0 0,55 14 0,549 60 0,-581-72 0,-17-1 0,1 0 0,-1 0 0,1-1 0,-1 0 0,1-1 0,8-1 0,-37-15 0,-461-245 0,371 205 0,54 29 0,-40-23 0,95 51 0,1-1 0,0 0 0,0 0 0,0 1 0,-1-1 0,1 0 0,0 0 0,0 0 0,0 0 0,0 0 0,0 0 0,1-1 0,-1 1 0,-1-2 0,2 3 0,0-1 0,0 1 0,0-1 0,0 1 0,0 0 0,0-1 0,0 1 0,1 0 0,-1-1 0,0 1 0,0-1 0,0 1 0,0 0 0,1-1 0,-1 1 0,0 0 0,0-1 0,1 1 0,-1 0 0,0 0 0,1-1 0,-1 1 0,0 0 0,1 0 0,-1-1 0,0 1 0,1 0 0,-1 0 0,0 0 0,1 0 0,0-1 0,5 0 0,0-1 0,0 1 0,0 0 0,0 0 0,7 1 0,34-3 0,0 3 0,0 2 0,0 2 0,51 11 0,-97-15 0,1 0 0,-1 1 0,1-1 0,-1 1 0,1-1 0,-1 1 0,0-1 0,1 1 0,-1 0 0,0 0 0,1-1 0,-1 1 0,0 0 0,0 0 0,2 2 0,-3-2 0,0-1 0,0 1 0,1-1 0,-1 1 0,0-1 0,0 1 0,0 0 0,0-1 0,0 1 0,0-1 0,0 1 0,0 0 0,0-1 0,0 1 0,0-1 0,-1 1 0,1 0 0,0-1 0,0 1 0,0-1 0,-1 1 0,1-1 0,0 1 0,-1-1 0,0 2 0,-3 2 0,0 0 0,0 0 0,-1-1 0,1 1 0,-1-1 0,-9 5 0,-77 37 0,-152 52 0,230-93 0,-5 6 0,28-6 0,40-4 0,-38 0 0,344-3 0,-321 9 0,-34-6 0,-1 0 0,0 0 0,0 0 0,0 0 0,0 0 0,1 1 0,-1-1 0,0 0 0,0 0 0,0 0 0,0 0 0,0 0 0,1 0 0,-1 0 0,0 0 0,0 0 0,0 0 0,0 0 0,0 0 0,0 1 0,0-1 0,1 0 0,-1 0 0,0 0 0,0 0 0,0 0 0,0 0 0,0 1 0,0-1 0,0 0 0,0 0 0,0 0 0,0 0 0,0 0 0,0 1 0,0-1 0,0 0 0,0 0 0,0 0 0,0 0 0,0 0 0,0 1 0,0-1 0,0 0 0,0 0 0,0 0 0,0 0 0,0 0 0,0 1 0,0-1 0,0 0 0,-20 5 0,-71 1 0,0-4 0,0-4 0,-100-16 0,128 12 0,0-3 0,1-3 0,-90-29 0,146 39 0,1 0 0,1 0 0,-1 0 0,0-1 0,0 0 0,1 0 0,-7-5 0,10 7 0,1 0 0,-1 1 0,1-1 0,-1 0 0,1 1 0,-1-1 0,1 0 0,-1 0 0,1 1 0,0-1 0,-1 0 0,1 0 0,0 0 0,0 0 0,0 1 0,0-1 0,0 0 0,0 0 0,0 0 0,0 0 0,0-1 0,1 1 0,-1-1 0,1 1 0,0 0 0,0-1 0,0 1 0,0 0 0,0-1 0,0 1 0,0 0 0,0 0 0,0 0 0,1 0 0,-1 0 0,0 0 0,3-1 0,10-5 0,0 0 0,1 1 0,0 0 0,0 2 0,22-5 0,86-11 0,-92 16 0,66-7 0,108-1 0,-159 13 0,0 1 0,0 3 0,0 1 0,69 20 0,-109-24 0,0 0 0,0 0 0,0 0 0,0 1 0,0 0 0,-1 0 0,11 8 0,-15-10 0,0 0 0,-1 0 0,1 0 0,0 0 0,0 0 0,0 0 0,-1 1 0,1-1 0,0 0 0,-1 0 0,0 1 0,1-1 0,-1 0 0,1 1 0,-1-1 0,0 0 0,0 1 0,0-1 0,0 0 0,0 1 0,0-1 0,0 1 0,-1-1 0,1 0 0,0 1 0,-1-1 0,1 0 0,-1 0 0,1 1 0,-1-1 0,0 0 0,1 0 0,-1 0 0,0 0 0,0 0 0,0 0 0,0 0 0,0 0 0,0 0 0,0 0 0,-2 1 0,-5 5 0,0-1 0,0 0 0,-15 7 0,-11 9 0,33-21 0,0-1 0,0 1 0,0-1 0,0 1 0,1 0 0,-1-1 0,0 1 0,0 0 0,0 0 0,1-1 0,-1 1 0,1 0 0,-1 0 0,0 0 0,1 0 0,0 0 0,-1 0 0,1 0 0,-1 0 0,1 0 0,0 0 0,0 0 0,0 2 0,0-2 0,0 0 0,1-1 0,-1 1 0,1 0 0,0 0 0,-1 0 0,1-1 0,0 1 0,-1 0 0,1-1 0,0 1 0,0-1 0,0 1 0,-1-1 0,1 1 0,0-1 0,0 0 0,0 1 0,2 0 0,5 1 0,1 0 0,0-1 0,0 0 0,11 0 0,42-1 0,-36-1 0,0 0 0,0 3 0,1 0 0,32 7 0,-55-8 0,0 0 0,1 0 0,-1-1 0,0 1 0,0-1 0,1 0 0,-1 0 0,0-1 0,0 0 0,1 1 0,4-3 0,-8 3 0,1-1 0,-1 0 0,0 1 0,0-1 0,1 0 0,-1 0 0,0 0 0,0 1 0,0-1 0,0 0 0,0-1 0,0 1 0,0 0 0,-1 0 0,1 0 0,0 0 0,-1-1 0,1 1 0,0 0 0,-1-1 0,0 1 0,1 0 0,-1-1 0,0 1 0,0-1 0,1 1 0,-1 0 0,0-1 0,0 1 0,-1-1 0,1 1 0,0-1 0,0 1 0,-1 0 0,1-1 0,-1 1 0,0-2 0,-4-8 0,0 1 0,-1-1 0,0 1 0,-13-15 0,3 3 0,13 18 0,-10-13 0,6 17 0,3 12 0,3 0 0,0 0 0,1 0 0,1 1 0,0-1 0,0 0 0,1 0 0,1 0 0,0 0 0,0-1 0,1 1 0,1-1 0,0 0 0,0 0 0,1 0 0,11 13 0,-13-16 0,-3-5 0,1-1 0,-1 0 0,0 1 0,1-1 0,-1 0 0,1 0 0,-1 0 0,1 0 0,0-1 0,0 1 0,3 2 0,-14-33 0,-21-36 0,20 46 0,1 0 0,1-1 0,0 0 0,1 0 0,2-1 0,-7-39 0,12 59 0,0 0 0,0 0 0,-1 0 0,1 0 0,0 0 0,0-1 0,0 1 0,0 0 0,1 0 0,-1 0 0,0 0 0,0 0 0,1 0 0,-1 0 0,0 0 0,1 0 0,-1 0 0,1 0 0,0 0 0,-1 0 0,1 0 0,0 0 0,-1 0 0,1 1 0,0-1 0,0 0 0,0 0 0,0 1 0,0-1 0,0 1 0,1-1 0,-1 1 0,1 0 0,-1 0 0,0 0 0,1 0 0,-1 1 0,0-1 0,1 0 0,-1 1 0,0-1 0,1 1 0,-1 0 0,0-1 0,0 1 0,0 0 0,1 0 0,-1 0 0,0 0 0,0 0 0,0 0 0,-1 0 0,1 0 0,0 0 0,0 0 0,1 2 0,29 54 0,-19-35 0,21 31 0,-15-19 0,-16-29 0,0 0 0,0 0 0,1 0 0,0 0 0,6 8 0,-21-29 0,1 0 0,-13-28 0,7 16 0,-86-147 0,94 159 0,15 20 0,17 24 0,-14-13 0,-1-1 0,8 21 0,-14-31 0,0 1 0,0 0 0,-1 0 0,1 0 0,-1 0 0,-1 0 0,1 0 0,-1 0 0,1 0 0,-1 0 0,-2 9 0,2-13 0,0 0 0,0 0 0,-1 0 0,1 1 0,0-1 0,-1 0 0,1 0 0,-1 0 0,0 0 0,1 0 0,-1 0 0,0 0 0,1 0 0,-1 0 0,0 0 0,0-1 0,0 1 0,0 0 0,0 0 0,0-1 0,0 1 0,0 0 0,0-1 0,0 1 0,0-1 0,-2 1 0,1-1 0,-1 0 0,1 0 0,0-1 0,-1 1 0,1 0 0,0-1 0,-1 0 0,1 1 0,0-1 0,0 0 0,0 0 0,-4-2 0,-5-5 0,1 1 0,0-1 0,-15-16 0,23 22 0,0 0 0,1 0 0,-1 0 0,1 0 0,0 0 0,0 0 0,0 0 0,0-1 0,0 1 0,-1-4 0,2 6 0,0 0 0,0 0 0,0 0 0,0-1 0,0 1 0,0 0 0,0 0 0,0 0 0,0 0 0,0-1 0,0 1 0,0 0 0,0 0 0,0 0 0,0 0 0,0-1 0,0 1 0,0 0 0,0 0 0,0 0 0,0 0 0,1-1 0,-1 1 0,0 0 0,0 0 0,0 0 0,0 0 0,0 0 0,0-1 0,0 1 0,1 0 0,-1 0 0,0 0 0,0 0 0,0 0 0,0 0 0,0 0 0,1 0 0,-1 0 0,0 0 0,0 0 0,0-1 0,1 1 0,13 10 0,51 55 0,-36-34 0,56 45 0,-78-72 0,-5-7 0,-12-15 0,-18-24 0,-20-32 0,27 38 0,18 33 0,0 1 0,0-1 0,0 0 0,0 1 0,0 0 0,0-1 0,-1 1 0,1 1 0,-1-1 0,1 0 0,-1 1 0,0 0 0,0 0 0,0 0 0,1 0 0,-1 0 0,-5 1 0,8-1 0,0 1 0,0 0 0,-1 0 0,1 0 0,0 0 0,0 0 0,-1 0 0,1 0 0,0 0 0,-1 0 0,1 0 0,0 1 0,0-1 0,0 1 0,-1-1 0,1 1 0,0-1 0,0 1 0,0-1 0,0 1 0,0 0 0,0 0 0,0 0 0,0-1 0,0 1 0,0 0 0,0 0 0,1 0 0,-1 1 0,0-1 0,1 0 0,-1 0 0,1 0 0,-1 0 0,1 0 0,0 1 0,-1-1 0,1 0 0,0 1 0,0-1 0,0 0 0,0 0 0,0 1 0,0-1 0,0 0 0,0 0 0,0 1 0,1-1 0,-1 0 0,1 0 0,-1 1 0,2 1 0,10 24 0,1-1 0,2 0 0,0-1 0,2 0 0,40 44 0,-18-21 0,-34-41 0,-1-1 0,2 0 0,-1 0 0,1 0 0,0-1 0,0 0 0,13 9 0,-19-14 0,1 0 0,-1 0 0,0 0 0,1 1 0,-1-1 0,1 0 0,-1 0 0,0 0 0,1 0 0,-1 0 0,0 0 0,1 0 0,-1 0 0,0 0 0,1 0 0,-1-1 0,1 1 0,-1 0 0,0 0 0,1 0 0,-1 0 0,0 0 0,0-1 0,1 1 0,-1 0 0,0 0 0,1-1 0,-1 1 0,0 0 0,0 0 0,1-1 0,-1 1 0,0 0 0,0-1 0,0 1 0,1 0 0,-1-1 0,0 1 0,0 0 0,0-1 0,0 1 0,0 0 0,0-1 0,0 1 0,0 0 0,0-1 0,0 1 0,0-1 0,0 1 0,0 0 0,0-1 0,0 1 0,0 0 0,0-1 0,-1 1 0,1 0 0,0-1 0,0 1 0,0 0 0,-1-1 0,-7-23 0,-59-94 0,-83-110 0,146 223 0,0-1 0,0 0 0,0 1 0,0-1 0,1 0 0,0-1 0,0 1 0,1 0 0,0-1 0,0 0 0,-1-8 0,3 15 0,0 0 0,0-1 0,0 1 0,0 0 0,0 0 0,0 0 0,0 0 0,0-1 0,0 1 0,0 0 0,0 0 0,0 0 0,0 0 0,0-1 0,0 1 0,0 0 0,0 0 0,1 0 0,-1 0 0,0 0 0,0 0 0,0-1 0,0 1 0,0 0 0,1 0 0,-1 0 0,0 0 0,0 0 0,0 0 0,0 0 0,1 0 0,-1 0 0,0 0 0,0 0 0,0 0 0,0 0 0,1 0 0,-1 0 0,0 0 0,0 0 0,0 0 0,0 0 0,1 0 0,9 5 0,9 12 0,13 22 0,-2 1 0,27 47 0,27 37 0,-76-114 0,-2-3 0,0 1 0,0-1 0,0 1 0,-1 1 0,-1-1 0,1 1 0,5 17 0,-10-26 0,0 0 0,0 0 0,0 0 0,0 1 0,0-1 0,1 0 0,-1 0 0,0 0 0,0 1 0,0-1 0,0 0 0,0 0 0,0 0 0,0 1 0,0-1 0,0 0 0,0 0 0,-1 0 0,1 1 0,0-1 0,0 0 0,0 0 0,0 0 0,0 1 0,0-1 0,0 0 0,0 0 0,-1 0 0,1 0 0,0 1 0,0-1 0,0 0 0,0 0 0,0 0 0,-1 0 0,1 0 0,0 0 0,0 1 0,0-1 0,-1 0 0,1 0 0,0 0 0,0 0 0,0 0 0,-1 0 0,1 0 0,0 0 0,-1 0 0,-12-6 0,-13-13 0,-146-140 0,154 129 0,17 29 0,0 0 0,1 0 0,-1-1 0,1 1 0,0 0 0,-1 0 0,1 0 0,0-1 0,0 1 0,0 0 0,0 0 0,0-1 0,0 1 0,0 0 0,0 0 0,0-1 0,0 1 0,1 0 0,-1 0 0,1 0 0,-1 0 0,1-1 0,-1 1 0,1 0 0,0-1 0,0 1 0,0 1 0,0 0 0,0 0 0,0 0 0,1-1 0,-1 1 0,0 0 0,0 0 0,0 0 0,0 1 0,0-1 0,0 0 0,0 0 0,0 0 0,0 1 0,0-1 0,0 0 0,0 1 0,0-1 0,0 1 0,-1 0 0,1-1 0,0 1 0,0 0 0,0-1 0,-1 1 0,1 0 0,0 0 0,-1-1 0,1 1 0,0 0 0,0 1 0,22 29 0,-17-22 0,15 28 0,-20-35 0,0-1 0,0 0 0,-1 1 0,1-1 0,-1 0 0,1 1 0,-1-1 0,1 0 0,-1 1 0,0-1 0,0 1 0,0-1 0,0 1 0,0-1 0,0 1 0,0-1 0,0 1 0,0-1 0,-1 0 0,1 1 0,-2 1 0,2-2 0,-1-1 0,0 0 0,0 0 0,1 0 0,-1 1 0,0-1 0,0 0 0,0 0 0,1 0 0,-1 0 0,0-1 0,0 1 0,0 0 0,1 0 0,-1 0 0,0-1 0,0 1 0,1 0 0,-1 0 0,0-1 0,1 1 0,-1-1 0,0 1 0,1-1 0,-1 1 0,0-1 0,1 1 0,-1-1 0,1 0 0,-1-1 0,-23-22 0,22 21 0,-21-17 0,23 20 0,0 0 0,0 0 0,0 0 0,0 0 0,-1 0 0,1 0 0,0 0 0,0 0 0,0 0 0,-1 0 0,1 0 0,0 0 0,0 0 0,0 0 0,-1 0 0,1 0 0,0 0 0,0 0 0,0 0 0,0 0 0,-1 0 0,1 1 0,0-1 0,0 0 0,0 0 0,0 0 0,0 0 0,-1 0 0,1 1 0,0-1 0,0 0 0,0 0 0,0 0 0,0 0 0,0 1 0,0-1 0,0 0 0,0 1 0,0 17 0,1 7 0,0 0 0,-1-1 0,-1 1 0,-2 0 0,0 0 0,-2-1 0,-10 33 0,-7 8 0,-42 89 0,61-149 0,-11 24 0,13-28 0,1 0 0,-1 0 0,0 0 0,0 0 0,1 0 0,-1 0 0,0 0 0,0 0 0,0 0 0,0 0 0,0 0 0,0 0 0,-1-1 0,1 1 0,0 0 0,0-1 0,0 1 0,-2 0 0,2-2 0,0 1 0,1 0 0,-1 0 0,0-1 0,1 1 0,-1-1 0,0 1 0,1 0 0,-1-1 0,0 1 0,1-1 0,-1 1 0,1-1 0,-1 0 0,1 1 0,-1-1 0,1 1 0,0-1 0,-1 0 0,1 1 0,0-1 0,-1 0 0,1 0 0,0 1 0,0-1 0,0 0 0,0 0 0,0 1 0,0-2 0,-3-28 0,3 27 0,2-226 0,-3-54 0,0 273 0,0 0 0,-1 1 0,0-1 0,0 1 0,-1-1 0,-5-11 0,7 18 0,0 0 0,-1 0 0,0 0 0,0 0 0,0 1 0,0-1 0,0 0 0,0 1 0,-1 0 0,1-1 0,-1 1 0,0 0 0,0 0 0,0 0 0,1 1 0,-2-1 0,1 1 0,0 0 0,0 0 0,-6-2 0,-18 0 0,0 0 0,0 2 0,0 1 0,-44 6 0,-105 24 0,168-28 0,-101 20 0,-196 68 0,297-87 0,1 1 0,-1 0 0,1 1 0,0 0 0,-8 6 0,14-10 0,0 0 0,0 0 0,-1 0 0,1 0 0,0 0 0,0 0 0,1 1 0,-1-1 0,0 0 0,0 1 0,1-1 0,-1 1 0,1-1 0,-1 1 0,0 2 0,1-3 0,1 0 0,-1 0 0,0 0 0,0 0 0,1 0 0,-1 0 0,1 0 0,-1 0 0,1 0 0,-1 0 0,1-1 0,0 1 0,-1 0 0,1 0 0,0 0 0,0-1 0,-1 1 0,1 0 0,0-1 0,0 1 0,0 0 0,0-1 0,0 1 0,0-1 0,2 1 0,12 3 0,0 0 0,0-1 0,1 0 0,-1-1 0,1-1 0,-1 0 0,26-3 0,-3 1 0,636-2 0,-761-1 0,47 0 0,-1968-261-2001,1952 254 2001,35 1 0,23 3 0,12 0 0,14-1 309,0 0 0,1 3 0,37-4 1,-8 1 121,173-23-98,321-50-1150,731-91-2039,-1263 170 2880,30-4 618,0 3 1,55 2-1,-103 1-582,-1 0 1,0 0-1,0 0 1,0 0-1,0 1 1,1-1-1,-1 0 1,0 0 0,0 1-1,0-1 1,0 1-1,0-1 1,0 1-1,0-1 1,0 1-1,0 0 1,1 0-1,-2 0-40,0-1 0,1 1 0,-1-1 1,0 1-1,0-1 0,0 1 0,0-1 0,0 1 0,0 0 0,0-1 0,0 1 0,0-1 1,0 1-1,0-1 0,0 1 0,0-1 0,-1 1 0,1-1 0,0 1 0,0-1 0,-1 1 1,1-1-1,0 1 0,0-1 0,-1 1 0,-5 5 11,1 0 0,-1 0 0,-13 9 0,14-11-45,-73 53-60,-1-3-1,-3-5 1,-2-2 0,-99 38-1,-369 108-297,403-154 372,-190 23 0,310-55 217,18-2-15,15-3-1,23-1-142,50-6 0,-30 1-53,137-11-6,753-54-2176,19 35 1399,-912 35 743,-27 1 90,-17-2-50,0 0 0,-1 0 0,1 0 0,0 0 0,0 0 0,0 0 0,0 0 0,0 0-1,0 0 1,0 1 0,0-1 0,0 0 0,0 0 0,-1 0 0,1 0 0,0 0 0,0 0 0,0 0 0,0 0 0,0 0 0,0 0 0,0 0-1,0 1 1,0-1 0,0 0 0,0 0 0,0 0 0,0 0 0,0 0 0,0 0 0,0 0 0,0 0 0,0 1 0,0-1 0,0 0-1,0 0 1,0 0 0,0 0 0,0 0 0,0 0 0,0 0 0,0 0 0,0 0 0,0 1 0,0-1 0,0 0 0,0 0 0,0 0 0,1 0-1,-1 0 1,0 0 0,0 0 0,0 0 0,0 0 0,0 0 0,0 0 0,0 0 0,0 0 0,0 0 0,-189 82 1137,-278 79 0,249-105-1568,-2-9 0,-1-10 0,-276 11 1,441-45 398,-97-7 1,146 3 15,0 0 1,0 0-1,0-1 0,0 1 0,0-2 1,0 1-1,-9-6 0,14 7 45,1 1 0,0-1 0,0 0 0,0 0 0,0 0 0,0 0 0,0 0-1,0 0 1,0 0 0,0-1 0,0 1 0,1 0 0,-1 0 0,0 0 0,1-1 0,-1 1 0,1-1-1,0 1 1,-1 0 0,1-1 0,0 1 0,0-1 0,0 1 0,0 0 0,0-1 0,0 1 0,0-1 0,0 1-1,1 0 1,-1-1 0,0 1 0,1 0 0,-1-1 0,1 1 0,0 0 0,-1-1 0,1 1 0,0 0-1,0 0 1,0 0 0,0 0 0,2-2 0,8-9 35,0 1 0,1 1 0,0 0 0,1 0 0,0 1 0,1 1 0,19-9 0,-33 17-69,135-70-121,223-80 1,158-14-421,-478 153 540,16-5 0,1 2 0,1 2 0,57-4 0,-111 16 13,1-1 0,-1 1-1,0 0 1,1 0 0,-1 0 0,1 1 0,-1-1 0,0 1 0,5 1 0,-7-2-3,0 0 1,1 0-1,-1 0 1,0 1-1,0-1 1,0 0-1,0 0 1,1 0-1,-1 1 0,0-1 1,0 0-1,0 1 1,0-1-1,0 0 1,0 0-1,0 1 1,0-1-1,0 0 1,0 0-1,0 1 0,0-1 1,0 0-1,0 1 1,0-1-1,0 0 1,0 0-1,0 1 1,0-1-1,0 0 1,0 0-1,0 1 0,0-1 1,-1 0-1,1 0 1,0 1-1,0-1 1,0 0-1,0 0 1,-1 0-1,1 1 1,0-1-1,0 0 1,-1 0-1,-4 5 31,-1-1 0,1 0 0,-1 0-1,0 0 1,-9 3 0,-61 26-41,-3-4 0,0-3 0,-100 20 0,29-24 0,43-8 0,86-9 0,38-10 0,872-307-986,-886 310 984,15-4 2,573-225 0,-557 216 0,-34 15 1,0 0 0,0 0 0,0 1-1,0-1 1,0 0 0,0 0 0,0 0-1,0 0 1,0 0 0,0 0 0,0 0-1,0 1 1,0-1 0,0 0 0,0 0-1,0 0 1,1 0 0,-1 0 0,0 0-1,0 0 1,0 0 0,0 0 0,0 0-1,0 0 1,0 1 0,0-1 0,0 0-1,0 0 1,1 0 0,-1 0 0,0 0-1,0 0 1,0 0 0,0 0 0,0 0-1,0 0 1,0 0 0,1 0 0,-1 0-1,0 0 1,0 0 0,0 0 0,0 0 0,0 0-1,0 0 1,0 0 0,0 0 0,1 0-1,-1 0 1,0 0 0,0-1 0,0 1-1,0 0 1,0 0 0,0 0 0,0 0-1,0 0 1,-11 12 224,-27 22 295,34-31-485,-48 41 15,-391 349 77,354-305-131,3 4-1,-128 181 1,190-234 4,-25 55 0,94-147 0,-24 25 0,232-307 0,-19-16 0,-232 348 0,35-65 0,-34 61 0,0 0 0,-1 0 0,1 0 0,-1 0 0,-1 0 0,0-1 0,1-13 0,-2 19 0,0 0 0,0 1 0,-1-1 0,1 0 0,-1 1 0,1-1 0,-1 0 0,0 1 0,1-1 0,-1 1 0,0-1 0,0 1 0,0-1 0,0 1 0,-1 0 0,1-1 0,0 1 0,0 0 0,-1 0 0,1 0 0,-1 0 0,1 0 0,-1 1 0,1-1 0,-1 0 0,0 1 0,1-1 0,-1 1 0,0-1 0,1 1 0,-1 0 0,0-1 0,0 1 0,-2 1 0,-8-2 0,-1 1 0,1 1 0,-20 3 0,29-4 0,-89 20 0,0 4 0,-94 38 0,70-20 0,1 5 0,-178 101 0,274-135 0,15-10 0,1 0 0,-1 0 0,0-1 0,0 0 0,0 1 0,-8 1 0,11-3 0,1-1 0,0 0 0,0 0 0,-1 0 0,1 0 0,0 0 0,0 0 0,-1 0 0,1 0 0,0 0 0,0 0 0,-1 0 0,1 0 0,0 0 0,0 0 0,-1 0 0,1-1 0,0 1 0,0 0 0,0 0 0,-1 0 0,1 0 0,0 0 0,0-1 0,0 1 0,-1 0 0,1 0 0,0 0 0,0 0 0,0-1 0,0 1 0,-1 0 0,1 0 0,0-1 0,0 1 0,0 0 0,0 0 0,0 0 0,0-1 0,0 1 0,0 0 0,0 0 0,0-1 0,0 1 0,0 0 0,0 0 0,0-1 0,0 1 0,0 0 0,0 0 0,0-1 0,0 1 0,0 0 0,0-1 0,7-19 0,56-95 0,-22 45 0,78-141 0,572-990-2679,-673 1170 2646,2-5 28,45-59 0,-64 94 5,0 0 0,0-1 0,0 1 0,1-1 0,-1 1 0,0 0 0,1 0 0,-1 0 0,1 0 0,-1 0 0,1 0 0,-1 0 0,1 0 0,2 0 0,3 7 0,-5 15 0,-5 20 0,-2 1 0,-18 69 0,4-24 0,-44 213-171,-27 106-515,-330 1293-2985,291-1281 3091,124-401 580,-6 15 0,-1 0 0,-23 42 0,35-73 33,0 0 0,-1 0-1,1 0 1,-1 0 0,1 0 0,-1 0 0,1 0-1,-1 0 1,0 0 0,1 0 0,-1 0 0,0-1-1,0 1 1,0 0 0,0-1 0,0 1-1,0 0 1,0-1 0,0 1 0,0-1 0,0 1-1,-1-1 1,1 0 47,1-1 1,-1 1-1,0-1 0,1 1 0,-1-1 0,1 0 0,-1 1 0,1-1 0,-1 0 1,1 0-1,-1 1 0,1-1 0,0 0 0,-1 0 0,1 0 0,0 0 1,0 1-1,0-1 0,0 0 0,-1 0 0,1-1 0,-1-9 809,1 0-1,0 0 1,2-16-1,7-22-306,2 1 0,31-83 0,-18 62-569,324-969-13,-220 598 0,-126 432 0,1 1 0,-1-1 0,-1 1 0,0-1 0,0 1 0,0-9 0,-14 44 0,-175 420 0,115-282 0,-284 591 0,351-745 0,-17 28 0,21-38 0,1 0 0,-1 0 0,0 0 0,0 0 0,1-1 0,-1 1 0,0 0 0,-1-1 0,1 1 0,0-1 0,0 0 0,-1 0 0,-4 2 0,6-3 0,1 0 0,-1 0 0,0 0 0,0 0 0,0 0 0,0 0 0,0-1 0,0 1 0,1 0 0,-1 0 0,0-1 0,0 1 0,0-1 0,1 1 0,-1-1 0,0 1 0,0-1 0,1 1 0,-1-1 0,0 0 0,1 1 0,-1-1 0,1 0 0,-1 1 0,1-1 0,-1 0 0,1 0 0,0 0 0,-1 1 0,1-1 0,0 0 0,0 0 0,-1 0 0,1 0 0,0 0 0,0-1 0,-4-40 0,4 39 0,-1-79 6,14-104 0,25-86-144,-33 241 85,168-873-841,-172 900 894,5-22 0,0 1 0,19-46 0,-24 70 0,-1-1 0,1 1 1,-1 0-1,1 0 0,-1 0 0,1 0 1,0 0-1,0 0 0,-1 0 0,1 0 0,0 0 1,0 0-1,0 0 0,0 0 0,2 0 0,-3 1 0,0 0 0,1 0 0,-1 0-1,0 0 1,1 0 0,-1 0 0,0 0-1,1 1 1,-1-1 0,1 0 0,-1 0-1,0 0 1,0 1 0,1-1 0,-1 0-1,0 0 1,1 1 0,-1-1 0,0 0-1,0 0 1,1 1 0,-1-1 0,0 0-1,0 1 1,0-1 0,0 1-1,0-1 1,1 0 0,-1 1 0,0-1-1,0 1 1,2 6 31,-1 0-1,0 0 1,0 1 0,-1-1-1,0 8 1,-6 66 408,-26 135-1,10-95-421,-60 339-927,-145 675-3758,-60 8 2364,287-1142 2303,-91 282-217,67-233 218,10-36 529,14-14-456,-1 0 0,1 0 0,-1 0 1,1 0-1,0 0 0,-1 0 0,1 0 0,-1-1 1,1 1-1,0 0 0,-1 0 0,1 0 1,0 0-1,-1-1 0,1 1 0,0 0 1,-1 0-1,1-1 0,0 1 0,0 0 1,-1 0-1,1-1 0,0 1 0,0 0 1,0-1-1,-1 1 0,1 0 0,0-1 0,0 1 1,0-1-1,0 1 0,0 0 0,0-1 1,0 1-1,0 0 0,0-1 0,0 1 1,0-1-1,0 1 0,0 0 0,0-1 1,0 1-1,0-1 0,0-11 271,0 1 1,1 0-1,0 0 0,1-1 1,0 1-1,1 0 0,5-16 1,3-10 296,45-150-111,35-101-991,-41 128-403,541-1777-2500,-566 1848 3325,22-72 2378,-47 161-2283,0-1 0,0 1 0,0-1 0,0 0 0,0 1 0,0-1-1,1 1 1,-1-1 0,0 1 0,0-1 0,1 0 0,-1 1 0,0-1 0,1 1 0,-1 0 0,0-1 0,1 1 0,-1-1 0,1 1 0,-1 0 0,1-1-1,-1 1 1,1 0 0,-1-1 0,1 1 0,0 0 0,0-1 0,0 2-13,-1-1 1,1 1-1,0-1 1,0 1-1,-1-1 1,1 1-1,0 0 1,-1-1-1,1 1 1,-1 0-1,1 0 1,-1-1-1,1 1 1,-1 0-1,1 0 1,-1 0-1,0 0 1,0-1-1,1 1 1,-1 1-1,7 22 49,-1 0-1,-2 0 0,4 46 1,-5 81-152,-4-102 88,-35 641-28,32-658 0,-1 0 0,-18 56 0,13-69 0,10-18 0,0-1 0,0 0 0,0 0 0,-1 0 0,1 0 0,0 0 0,0 0 0,0 1 0,-1-1 0,1 0 0,0 0 0,0 0 0,0 0 0,-1 0 0,1 0 0,0 0 0,0 0 0,-1 0 0,1 0 0,0 0 0,0 0 0,0 0 0,-1 0 0,1 0 0,0 0 0,0 0 0,-1 0 0,1 0 0,0 0 0,0-1 0,0 1 0,-1 0 0,1 0 0,0 0 0,0 0 0,0 0 0,0 0 0,-1-1 0,1 1 0,0 0 0,0 0 0,-2-4 0,1 1 0,0 0 0,0-1 0,0 1 0,0 0 0,0-1 0,1 1 0,-1-1 0,1-6 0,5-149 0,-1 98 0,9-168 0,13-184-1586,27-499 279,-25-7 256,-29 883 1051,1 23 0,-1 1 0,2-1 0,3-23 0,-4 36 14,0 0 1,0 0 0,0-1-1,0 1 1,0 0 0,0-1-1,0 1 1,0 0 0,0-1 0,0 1-1,0 0 1,0 0 0,0-1-1,0 1 1,0 0 0,0-1-1,0 1 1,0 0 0,1 0 0,-1-1-1,0 1 1,0 0 0,0 0-1,0-1 1,1 1 0,-1 0 0,0 0-1,0 0 1,1-1 0,-1 1-1,0 0 1,0 0 0,1 0-1,-1 0 1,0 0 0,0-1 0,1 1-1,-1 0 1,0 0 0,1 0-1,-1 0 1,0 0 0,1 0-1,-1 0 1,0 0 0,1 0 0,6 16 1576,1 40-933,1 300 321,-9-204-954,-2 394-1020,-8 133-3048,-43 933 1075,37-1297 2561,13-262 407,0 16 0,-22 123 0,24-186 0,0-1 0,-1 1 0,0-1 0,0 1 0,0-1 0,-5 9 0,7-14 28,0 0-1,0 1 1,-1-1-1,1 0 1,0 1 0,0-1-1,0 0 1,-1 1-1,1-1 1,0 0 0,-1 1-1,1-1 1,0 0-1,-1 0 1,1 1 0,0-1-1,-1 0 1,1 0-1,0 0 1,-1 0 0,1 0-1,0 1 1,-1-1-1,1 0 1,-1 0 0,1 0-1,0 0 1,-1 0-1,1 0 1,-1 0 0,1 0-1,0 0 1,-1 0-1,1-1 1,-1 1 0,1 0-1,0 0 1,-1 0-1,1 0 1,0-1 0,-1 1-1,1 0 1,0 0-1,-1-1 1,1 1 0,0 0-1,-1 0 1,1-1-1,0 1 1,0 0 0,-1-1-1,1 1 1,0 0-1,0-1 1,0 0 0,-9-22 2562,3-4-1705,1 0-1,2 0 1,1-1 0,2-53 0,24-121-1032,145-638-1751,-117 602 1626,72-325-2,55-263-216,-169 781 518,-2 9 78,0-2 0,3-74 0,-11 112-69,0 0-1,0-1 1,0 1-1,0-1 1,0 1-1,-1 0 1,1-1-1,0 1 1,0-1-1,0 1 1,-1 0-1,1-1 1,0 1-1,0 0 1,0-1-1,-1 1 1,1 0-1,0 0 1,-1-1-1,1 1 1,0 0 0,-1 0-1,1 0 1,0-1-1,-1 1 1,1 0-1,-1 0 1,1 0-1,0 0 1,-1 0-1,1 0 1,-1-1-1,1 1 1,0 0-1,-1 0 1,1 0-1,-1 0 1,1 1-1,0-1 1,-1 0-1,1 0 1,-1 0-1,1 0 1,0 0-1,-1 0 1,1 1-1,0-1 1,-1 0-1,1 0 1,0 1-1,-1-1 1,1 0-1,0 0 1,0 1 0,-1-1-1,-30 21 128,23-16 73,-100 69-163,-359 253 3,20 29-86,407-320 9,0 1 0,-50 65 0,68-81 0,12-15 0,10-6 0,0 0 0,0 0 0,0-1 0,-1 1 0,1 0 0,0 0 0,0 0 0,0 0 0,0-1 0,0 1 0,0 0 0,0 0 0,0 0 0,-1-1 0,1 1 0,0 0 0,0 0 0,0 0 0,0-1 0,0 1 0,0 0 0,0 0 0,0 0 0,0-1 0,0 1 0,0 0 0,1 0 0,-1 0 0,0-1 0,0 1 0,0 0 0,0 0 0,0 0 0,0-1 0,0 1 0,0 0 0,1 0 0,-1 0 0,0 0 0,0-1 0,0 1 0,0 0 0,1 0 0,17-32 0,1 1 0,44-55 0,-38 53 0,16-22 0,2 2 0,91-85 0,-127 131-195,1 1 0,0 1 0,0-1 0,0 1 0,1 1 0,10-5 0,-2 4-6631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6:54:54.718"/>
    </inkml:context>
    <inkml:brush xml:id="br0">
      <inkml:brushProperty name="width" value="0.035" units="cm"/>
      <inkml:brushProperty name="height" value="0.035" units="cm"/>
    </inkml:brush>
  </inkml:definitions>
  <inkml:trace contextRef="#ctx0" brushRef="#br0">976 4206 24575,'-6'-226'0,"5"223"0,-22-290-870,-60-346-3434,-52 3 4441,120 580 220,-2 0 0,-46-101 0,36 112 155,25 42-494,0 1 1,0 0-1,1 0 0,-1 0 1,0 0-1,-1 1 1,1-1-1,0 1 0,0-1 1,-1 1-1,1 0 1,-1 0-1,1 0 0,-4-1 1,4 2 18,1 0 1,-1 0 0,1 0-1,-1 0 1,1 0-1,-1 1 1,1-1-1,-1 0 1,1 1 0,0-1-1,-1 1 1,1 0-1,-1-1 1,1 1-1,0 0 1,0 0 0,0 0-1,-1 0 1,1 0-1,0 0 1,0 0-1,0 1 1,1-1 0,-1 0-1,0 0 1,0 1-1,1-1 1,-1 1 0,0-1-1,1 0 1,0 1-1,-1-1 1,1 1-1,0-1 1,0 3 0,-3 7 327,2-1 1,-1 1-1,1 18 0,6 33-274,2-1 0,2 0 0,33 108 0,-12-66-91,58 133 0,-63-180 0,2-2 0,3-1 0,69 93 0,-81-125 0,0 0 0,38 33 0,-49-48 0,1 0 0,-1-1 0,1 0 0,0 0 0,0-1 0,0 0 0,0 0 0,1-1 0,0 0 0,0 0 0,17 2 0,-22-5 0,-1 0 0,0 0 0,0 0 0,1-1 0,-1 1 0,0-1 0,0 1 0,0-1 0,1 0 0,-1 0 0,0-1 0,0 1 0,-1-1 0,1 1 0,0-1 0,3-3 0,-2 1 0,0 0 0,-1 0 0,1 0 0,-1 0 0,0-1 0,0 1 0,-1-1 0,1 0 0,1-6 0,1-6 0,0 0 0,-1-1 0,-1 1 0,0-1 0,-1-20 0,-2-2 0,-2 0 0,-2-1 0,-1 2 0,-2-1 0,-2 1 0,-1 0 0,-3 0 0,0 2 0,-24-45 0,10 31 0,-1 0 0,-3 2 0,-2 1 0,-2 2 0,-73-74 0,94 105 0,-1 1 0,0 1 0,-1 0 0,-1 1 0,0 1 0,0 1 0,-1 0 0,-22-8 0,38 16 0,-1 1 0,0 0 0,-1 1 0,1-1 0,0 0 0,0 1 0,0 0 0,0-1 0,0 1 0,-1 1 0,1-1 0,0 0 0,0 1 0,0-1 0,0 1 0,0 0 0,0 0 0,0 0 0,0 1 0,-3 1 0,1 2 0,0 0 0,0-1 0,1 1 0,0 1 0,0-1 0,1 1 0,-1-1 0,1 1 0,0 0 0,1 0 0,-3 7 0,-10 36 0,1 0 0,-9 73 0,-33 325-1025,9 197-3075,19 793-179,137 1 2468,-28-963 537,2-143 897,-24-158 149,-50-152 320,2 1 1,0-2 0,1 1-1,23 29 1,-32-47 65,0-1 1,0 1-1,0-1 1,0 0-1,0 0 1,1 0-1,0-1 0,7 5 1,-10-7-87,0 1 1,0-1-1,1 1 0,-1-1 1,0 0-1,1 1 0,-1-1 1,0 0-1,1 0 0,-1 0 1,0 0-1,1 0 1,-1 0-1,0-1 0,0 1 1,1 0-1,-1-1 0,0 1 1,1-1-1,1 0 0,1-3 236,0 0-1,0-1 0,0 1 1,-1-1-1,1 1 0,-1-1 1,0 0-1,-1 0 0,1-1 1,-1 1-1,0-1 0,2-10 0,38-158 558,44-269-865,44-329-430,23-293-1288,99-1328-1976,-181 1392 2536,-32 245-865,-24 250 1518,-17 215 505,1 253 252,-8-50 1,2 72 759,7 16-974,-1 0 1,1 0 0,-1 1 0,1-1 0,-1 0 0,1 0 0,-1 1 0,1-1 0,0 0 0,-1 1-1,1-1 1,-1 1 0,1-1 0,0 0 0,-1 1 0,1-1 0,0 1 0,0-1 0,-1 1 0,1-1-1,0 1 1,0-1 0,0 1 0,0-1 0,-1 2 0,-27 103 467,-38 161-506,-64 230 0,-63 228 0,-45 179 0,-283 1270-2022,123 19-433,345-1774 2529,44-341 295,-1 9 624,0 114 0,12-185 92,4-31 0,25-151-543,51-294-542,46-290 0,334-2490-914,-416 2817-83,-40 363 836,15-259 73,-21 317 199,0 0 0,1 0-1,-1 0 1,-1 0 0,1 0-1,0 0 1,-1 0 0,0 0 0,-1-5-1,1 9 37,0 0 0,0 1 0,0-1 0,0 1 0,1-1 0,-1 1-1,0-1 1,1 1 0,0-1 0,-1 1 0,1 0 0,0-1 0,-1 4-1,-11 90 1828,4 1 1,4 98-1,3-112-1588,40 1059 1424,-34-1078-1810,19 88 0,-22-142 0,-2-7 0,1 1 0,-1 0 0,1 0 0,0 0 0,0-1 0,0 1 0,0 0 0,3 3 0,-4-6 0,0 0 0,1 0 0,-1 1 0,0-1 0,0 0 0,0 0 0,1 0 0,-1 0 0,0 0 0,0 0 0,1 0 0,-1 0 0,0 0 0,0 0 0,1 0 0,-1 0 0,0 0 0,0 0 0,1 0 0,-1 0 0,0 0 0,0 0 0,1 0 0,-1 0 0,0 0 0,0-1 0,0 1 0,1 0 0,-1 0 0,0 0 0,0 0 0,0 0 0,1-1 0,-1 1 0,0 0 0,0 0 0,0 0 0,1-1 0,11-22 0,37-118 0,45-177 0,326-1239-2863,-384 1418 3088,-18 72-225,60-208 0,-60 236 0,-18 39 0,0 0 0,1 0 0,-1 0 0,0-1 0,0 1 0,0 0 0,0 0 0,0 0 0,0 0 0,0 0 0,1 0 0,-1 0 0,0 0 0,0 0 0,0 0 0,0 0 0,0 0 0,0 0 0,1 0 0,-1 0 0,0 0 0,0 0 0,0 0 0,0 0 0,0 0 0,1 0 0,-1 0 0,0 0 0,0 0 0,0 0 0,0 0 0,0 0 0,1 0 0,-1 0 0,0 0 0,0 0 0,0 0 0,0 1 0,0-1 0,0 0 0,0 0 0,0 0 0,1 0 0,-1 0 0,0 0 0,0 0 0,0 1 0,0-1 0,0 0 0,0 0 0,0 0 0,0 0 0,0 0 0,0 0 0,0 1 0,0-1 0,0 0 0,0 0 0,3 25 0,-5 32 0,-3 1 0,-21 101 0,23-138 0,-66 325-39,-381 1755-155,416-1958 194,25-117 0,7-27 0,3-9 0,23-133 0,37-149-392,27-118-1268,11-54 1580,-36 163 2994,-41 187-2287,-17 73-627,-12 45 0,-7 19 0,-145 292 760,-34 61 977,185-361-1453,5-10-265,0 1 1,0-1 0,0 0-1,0 0 1,-1 0-1,0-1 1,0 1-1,0-1 1,0 0 0,-8 6-1,11-10-19,1 1 0,0-1 0,-1 0 0,1 0 0,0 0 0,-1 0 0,1 0 0,0 0 0,-1 0 0,1 1 0,0-1 0,-1 0 0,1 0 0,-1 0 0,1 0 0,0 0 0,-1-1 0,1 1 0,0 0 0,-1 0 0,1 0 0,0 0 0,-1 0 0,1 0 0,0-1 0,-1 1 0,1 0 0,0 0 0,-1 0 0,1-1 0,0 1 0,0 0 0,-1-1 0,1 1 0,0 0 0,0 0 0,-1-1 0,1 1 0,0 0 0,0-1 0,0 1 0,0 0 0,0-1 0,0 1 0,0-1 0,-1 1 0,1 0 0,0-1 0,0 1 0,0 0 0,0-1 0,1 1 0,-1 0 0,0-1 0,3-27 0,13-22 0,1 2 0,44-85 0,-34 77 0,-14 28 0,25-54 0,3 3 0,72-107 0,-110 182 0,0 0 0,0 0 0,0 0 0,1 0 0,0 1 0,-1 0 0,1 0 0,7-4 0,-10 7 0,-1-1 0,1 1 0,-1 0 0,1 0 0,-1 0 0,1-1 0,-1 1 0,1 0 0,0 0 0,-1 0 0,1 0 0,-1 0 0,1 0 0,0 0 0,-1 0 0,1 1 0,-1-1 0,1 0 0,-1 0 0,1 0 0,-1 1 0,1-1 0,0 0 0,-1 0 0,0 1 0,2 0 0,-1 0 0,0 1 0,0-1 0,-1 1 0,1-1 0,0 1 0,0-1 0,-1 1 0,1 0 0,-1-1 0,0 1 0,1 0 0,-1 0 0,0 2 0,0 27 0,2 12 0,-2-43 0,0 1 0,0-1 0,0 0 0,0 0 0,0 1 0,0-1 0,0 0 0,0 0 0,0 1 0,0-1 0,0 0 0,0 0 0,0 1 0,0-1 0,0 0 0,1 0 0,-1 1 0,0-1 0,0 0 0,0 0 0,0 0 0,1 1 0,-1-1 0,0 0 0,0 0 0,0 0 0,1 0 0,-1 1 0,0-1 0,0 0 0,1 0 0,-1 0 0,0 0 0,0 0 0,1 0 0,-1 0 0,0 0 0,0 0 0,1 0 0,-1 0 0,0 0 0,0 0 0,1 0 0,-1 0 0,0 0 0,0 0 0,1 0 0,-1 0 0,0 0 0,0 0 0,1 0 0,-1-1 0,0 1 0,1 0 0,15-17 0,-13 14 0,97-127 0,-43 55 0,649-804-2112,-498 646 2112,-157 187 0,-50 45-2,0 0 0,0 0-1,0 0 1,0 0 0,0 0 0,0 1 0,0-1 0,1 0 0,-1 1 0,0-1 0,0 1 0,0-1-1,1 1 1,-1 0 0,0-1 0,1 1 0,-1 0 0,0 0 0,1 0 0,1 0 0,-3 1 0,0-1 0,1 1 0,-1 0 0,0-1 1,1 1-1,-1 0 0,0 0 0,0-1 0,1 1 0,-1 0 1,0 0-1,0 0 0,0-1 0,0 1 0,0 0 0,0 0 1,-1 0-1,1-1 0,0 1 0,0 0 0,0 0 0,-1-1 1,1 2-1,-3 6 90,-1 1 0,0-1 0,0 0 0,-6 10 0,-14 9-45,1-5-6517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7:13:05.442"/>
    </inkml:context>
    <inkml:brush xml:id="br0">
      <inkml:brushProperty name="width" value="0.035" units="cm"/>
      <inkml:brushProperty name="height" value="0.035" units="cm"/>
    </inkml:brush>
  </inkml:definitions>
  <inkml:trace contextRef="#ctx0" brushRef="#br0">0 0 24575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7:18:20.476"/>
    </inkml:context>
    <inkml:brush xml:id="br0">
      <inkml:brushProperty name="width" value="0.035" units="cm"/>
      <inkml:brushProperty name="height" value="0.03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7:29:49.504"/>
    </inkml:context>
    <inkml:brush xml:id="br0">
      <inkml:brushProperty name="width" value="0.35" units="cm"/>
      <inkml:brushProperty name="height" value="0.35" units="cm"/>
    </inkml:brush>
  </inkml:definitions>
  <inkml:trace contextRef="#ctx0" brushRef="#br0">344 340 24575,'0'-2'0,"1"0"0,-1 0 0,1-1 0,0 1 0,0 0 0,-1 0 0,1 0 0,0 0 0,1 0 0,-1 0 0,0 0 0,0 1 0,1-1 0,-1 0 0,1 1 0,0-1 0,0 1 0,-1-1 0,1 1 0,0 0 0,0 0 0,0 0 0,0 0 0,3-1 0,4-2 0,0 1 0,0 0 0,0 0 0,13-1 0,29-1-298,0 2 0,81 5 0,-29 1 39,378-3 259,-470-1-11,0 0 0,0 0 0,-1-1 0,1-1 1,0 0-1,19-9 0,-26 11 30,0-1 0,0-1 0,0 1 1,-1 0-1,1-1 0,-1 0 0,0 0 0,1 0 0,2-4 1,-5 5 26,0 1-1,0-1 1,0 0 0,0 1 0,0-1 0,-1 0 0,1 0 0,-1 1-1,1-1 1,-1 0 0,1 0 0,-1 0 0,0 0 0,0 0 0,0 0 0,0 0-1,0 0 1,-1 0 0,1 1 0,-1-1 0,0-2 0,-1-1-43,-1 1-1,1 0 1,-1 0 0,0 0 0,0 0-1,0 1 1,-1-1 0,1 1-1,-1 0 1,0 0 0,0 0 0,-7-4-1,-2 0-4,0 0 0,-26-10-1,12 9-79,0 0 0,0 2 0,-1 1-1,-28-1 1,-110 3-453,125 3 505,-560 0 30,557 4 0,42-4 0,1 0 0,0 0 0,0 0 0,-1 1 0,1-1 0,0 0 0,0 1 0,0-1 0,-1 1 0,1-1 0,0 1 0,0-1 0,0 1 0,0 0 0,0-1 0,0 1 0,0 0 0,0 0 0,0 0 0,1 0 0,-1 0 0,0 0 0,1 0 0,-1 0 0,0 0 0,1 0 0,-1 1 0,1-1 0,0 0 0,-1 0 0,1 2 0,0-1 16,0-1 0,1 0 0,-1 0 0,1 1-1,0-1 1,-1 0 0,1 0 0,0 0 0,0 0 0,-1 0 0,1 0 0,0 0-1,0 0 1,0 0 0,0 0 0,0 0 0,1 0 0,-1-1 0,0 1 0,0-1 0,0 1-1,1-1 1,-1 1 0,2 0 0,39 7 521,-34-6-495,33 5-42,-1 1 0,40 15 0,-55-15-89,0-2 0,0 0-1,1-2 1,41 2-1,108-7-645,-66-2 531,-1 4 211,116-2 525,-218 1-521,0-1 0,-1 1 0,1-1-1,-1 0 1,1 0 0,-1-1 0,1 0 0,-1 0-1,9-4 1,-13 6-8,-1-1 1,0 1-1,0 0 0,1 0 0,-1 0 0,0 0 1,1-1-1,-1 1 0,0 0 0,0 0 0,0-1 1,1 1-1,-1 0 0,0 0 0,0-1 1,0 1-1,0 0 0,1-1 0,-1 1 0,0 0 1,0 0-1,0-1 0,0 1 0,0 0 0,0-1 1,0 1-1,0 0 0,0-1 0,0 1 0,0 0 1,0-1-1,0 1 0,0 0 0,0-1 0,-1 0 1,-10-6 250,-19 1 115,-30 2-369,-60 5 0,51 0 0,51 0 5,0 2-1,0 0 0,1 0 1,-1 2-1,-25 10 0,-37 9-163,59-18 60,0 1 0,0 1-1,1 1 1,-37 23 0,29-17 14,-43 19 0,55-28 76,-37 15-13,51-21 30,0 1 0,0 0 0,0 0-1,0 0 1,0 0 0,1 1 0,-1-1 0,0 0-1,1 1 1,-1-1 0,1 1 0,0 0 0,-1-1-1,1 1 1,0 0 0,0 0 0,0 0 0,0 0-1,0-1 1,0 5 0,1-5 6,0 0-1,1 0 1,-1 0 0,0 1 0,1-1-1,-1 0 1,1 0 0,-1 0 0,1 0-1,0 0 1,0 0 0,-1 0 0,1 0-1,0-1 1,0 1 0,0 0 0,0 0-1,0-1 1,0 1 0,0 0 0,0-1 0,0 1-1,0-1 1,0 1 0,0-1 0,0 0-1,0 1 1,1-1 0,1 0 0,39 6 236,-39-6-247,14 2-3,0-1 0,0-1 0,0-1 0,28-4 0,-41 4 0,0 0 0,0 0 0,0 0 0,0 0 0,0-1 0,-1 0 0,1 1 0,-1-2 0,1 1 0,-1 0 0,0-1 0,0 1 0,0-1 0,0 0 0,0 0 0,0 0 0,-1 0 0,0-1 0,1 1 0,-1-1 0,0 1 0,-1-1 0,1 0 0,-1 0 0,2-6 0,0-1 0,-1-1 0,-1 0 0,0 0 0,0 0 0,-1 0 0,-1 0 0,0 0 0,0 0 0,-2 0 0,1 1 0,-1-1 0,-1 1 0,0-1 0,-1 1 0,0 0 0,-7-11 0,9 18 0,-1 1 0,1-1 0,-1 1 0,0 0 0,0 0 0,0 0 0,0 0 0,-1 1 0,1-1 0,-8-2 0,-54-14 0,5 1 0,37 9 0,-1 1 0,0 0 0,0 2 0,-1 1 0,-35-2 0,-133 3 0,139 5 0,51-1 0,-1 0 0,1 0 0,0 0 0,-1 1 0,1 0 0,0 0 0,-1 0 0,1 0 0,0 1 0,0 0 0,0 0 0,0 0 0,0 0 0,0 0 0,-3 4 0,4-3 0,0 0 0,1 0 0,0 1 0,-1-1 0,1 0 0,0 1 0,1 0 0,-1-1 0,1 1 0,0 0 0,0 0 0,0 0 0,0 0 0,0 0 0,1 0 0,0 0 0,0 4 0,0-2 0,1 0 0,0-1 0,0 1 0,0 0 0,1-1 0,0 1 0,0 0 0,0-1 0,0 0 0,1 0 0,0 0 0,0 0 0,1 0 0,-1 0 0,1-1 0,0 0 0,1 0 0,-1 0 0,0 0 0,1 0 0,8 4 0,-1-1 0,1 0 0,0-1 0,0-1 0,0 0 0,1 0 0,0-1 0,26 3 0,12-2 0,1-3 0,82-7 0,-103-4 0,-20 0 0,-12 9 0,0-1 0,0 1 0,0-1 0,0 1 0,0 0 0,0-1 0,0 1 0,0-1 0,0 1 0,0 0 0,-1-1 0,1 1 0,0 0 0,0-1 0,0 1 0,0-1 0,0 1 0,-1 0 0,1-1 0,0 1 0,0 0 0,-1 0 0,1-1 0,0 1 0,0 0 0,-1-1 0,1 1 0,0 0 0,-1 0 0,1 0 0,0-1 0,-1 1 0,0 0 0,0-1 0,-1 1 0,0-1 0,0 0 0,0 1 0,0-1 0,0 1 0,0 0 0,0 0 0,0 0 0,0 0 0,0 0 0,0 0 0,1 0 0,-1 1 0,0-1 0,0 1 0,0-1 0,0 1 0,0 0 0,0 0 0,1 0 0,-1 0 0,-2 1 0,-43 35 0,28-21 0,1-3 0,1 1 0,0 1 0,0 0 0,2 1 0,0 1 0,1 0 0,1 1 0,0 1 0,-14 29 0,8-11-1365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7:29:59.857"/>
    </inkml:context>
    <inkml:brush xml:id="br0">
      <inkml:brushProperty name="width" value="0.35" units="cm"/>
      <inkml:brushProperty name="height" value="0.35" units="cm"/>
    </inkml:brush>
  </inkml:definitions>
  <inkml:trace contextRef="#ctx0" brushRef="#br0">0 0 24575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7:30:00.820"/>
    </inkml:context>
    <inkml:brush xml:id="br0">
      <inkml:brushProperty name="width" value="0.35" units="cm"/>
      <inkml:brushProperty name="height" value="0.35" units="cm"/>
    </inkml:brush>
  </inkml:definitions>
  <inkml:trace contextRef="#ctx0" brushRef="#br0">3 0 24575,'0'1223'-3658,"2"-1198"3658,0-1 0,2 1 0,8 29 0,6 43 0,-11 287-1235,-10-217 886,3-96 624,-13 90 0,7-95 128,4 115 1,2-7 346,-1-167-488,1 0 0,-1 0 0,-1 0 0,-6 14 544,5-28-207,-1-12 83,0-296-682,6 170 0,-2-876-1500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52EDB123-7BE7-9CC3-67EA-22E9A84396F5}"/>
            </a:ext>
          </a:extLst>
        </p:cNvPr>
        <p:cNvGrpSpPr/>
        <p:nvPr/>
      </p:nvGrpSpPr>
      <p:grpSpPr>
        <a:xfrm>
          <a:off x="0" y="0"/>
          <a:ext cx="0" cy="0"/>
          <a:chOff x="0" y="0"/>
          <a:chExt cx="0" cy="0"/>
        </a:xfrm>
      </p:grpSpPr>
      <p:sp>
        <p:nvSpPr>
          <p:cNvPr id="79" name="Google Shape;79;gc6f90357f_0_19:notes">
            <a:extLst>
              <a:ext uri="{FF2B5EF4-FFF2-40B4-BE49-F238E27FC236}">
                <a16:creationId xmlns:a16="http://schemas.microsoft.com/office/drawing/2014/main" id="{47DA8BF0-8076-12CD-3E27-B3BF866807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19:notes">
            <a:extLst>
              <a:ext uri="{FF2B5EF4-FFF2-40B4-BE49-F238E27FC236}">
                <a16:creationId xmlns:a16="http://schemas.microsoft.com/office/drawing/2014/main" id="{C7D74A80-36FA-F7FE-D18B-9ABD8D1314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2971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8B32008B-0AD1-7E24-9FDD-550BD6D867CC}"/>
            </a:ext>
          </a:extLst>
        </p:cNvPr>
        <p:cNvGrpSpPr/>
        <p:nvPr/>
      </p:nvGrpSpPr>
      <p:grpSpPr>
        <a:xfrm>
          <a:off x="0" y="0"/>
          <a:ext cx="0" cy="0"/>
          <a:chOff x="0" y="0"/>
          <a:chExt cx="0" cy="0"/>
        </a:xfrm>
      </p:grpSpPr>
      <p:sp>
        <p:nvSpPr>
          <p:cNvPr id="79" name="Google Shape;79;gc6f90357f_0_19:notes">
            <a:extLst>
              <a:ext uri="{FF2B5EF4-FFF2-40B4-BE49-F238E27FC236}">
                <a16:creationId xmlns:a16="http://schemas.microsoft.com/office/drawing/2014/main" id="{9BF2F5B9-004C-FE73-71F3-EDB857569F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19:notes">
            <a:extLst>
              <a:ext uri="{FF2B5EF4-FFF2-40B4-BE49-F238E27FC236}">
                <a16:creationId xmlns:a16="http://schemas.microsoft.com/office/drawing/2014/main" id="{06883F07-8E72-F6E2-E804-5C3CAF491F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6041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c6f90357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c6f90357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C645E37C-A992-16F0-1A1C-830A550AB6E8}"/>
            </a:ext>
          </a:extLst>
        </p:cNvPr>
        <p:cNvGrpSpPr/>
        <p:nvPr/>
      </p:nvGrpSpPr>
      <p:grpSpPr>
        <a:xfrm>
          <a:off x="0" y="0"/>
          <a:ext cx="0" cy="0"/>
          <a:chOff x="0" y="0"/>
          <a:chExt cx="0" cy="0"/>
        </a:xfrm>
      </p:grpSpPr>
      <p:sp>
        <p:nvSpPr>
          <p:cNvPr id="79" name="Google Shape;79;gc6f90357f_0_19:notes">
            <a:extLst>
              <a:ext uri="{FF2B5EF4-FFF2-40B4-BE49-F238E27FC236}">
                <a16:creationId xmlns:a16="http://schemas.microsoft.com/office/drawing/2014/main" id="{A8A33CBA-3CD7-EC61-98CC-5ACFE25DC3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19:notes">
            <a:extLst>
              <a:ext uri="{FF2B5EF4-FFF2-40B4-BE49-F238E27FC236}">
                <a16:creationId xmlns:a16="http://schemas.microsoft.com/office/drawing/2014/main" id="{4344F32B-D8B1-9D2C-58E6-891DD62899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3609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c6f90357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7A19DF8C-43BF-04CF-4AEA-2144BB09AECE}"/>
            </a:ext>
          </a:extLst>
        </p:cNvPr>
        <p:cNvGrpSpPr/>
        <p:nvPr/>
      </p:nvGrpSpPr>
      <p:grpSpPr>
        <a:xfrm>
          <a:off x="0" y="0"/>
          <a:ext cx="0" cy="0"/>
          <a:chOff x="0" y="0"/>
          <a:chExt cx="0" cy="0"/>
        </a:xfrm>
      </p:grpSpPr>
      <p:sp>
        <p:nvSpPr>
          <p:cNvPr id="79" name="Google Shape;79;gc6f90357f_0_19:notes">
            <a:extLst>
              <a:ext uri="{FF2B5EF4-FFF2-40B4-BE49-F238E27FC236}">
                <a16:creationId xmlns:a16="http://schemas.microsoft.com/office/drawing/2014/main" id="{809FCC71-4327-0785-C1E5-0A1DE219D1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19:notes">
            <a:extLst>
              <a:ext uri="{FF2B5EF4-FFF2-40B4-BE49-F238E27FC236}">
                <a16:creationId xmlns:a16="http://schemas.microsoft.com/office/drawing/2014/main" id="{2950A687-EFF3-13DC-8221-A6A5896A68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484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AF0669DD-68AA-76D3-942B-5B761138058E}"/>
            </a:ext>
          </a:extLst>
        </p:cNvPr>
        <p:cNvGrpSpPr/>
        <p:nvPr/>
      </p:nvGrpSpPr>
      <p:grpSpPr>
        <a:xfrm>
          <a:off x="0" y="0"/>
          <a:ext cx="0" cy="0"/>
          <a:chOff x="0" y="0"/>
          <a:chExt cx="0" cy="0"/>
        </a:xfrm>
      </p:grpSpPr>
      <p:sp>
        <p:nvSpPr>
          <p:cNvPr id="62" name="Google Shape;62;gc6f90357f_0_5:notes">
            <a:extLst>
              <a:ext uri="{FF2B5EF4-FFF2-40B4-BE49-F238E27FC236}">
                <a16:creationId xmlns:a16="http://schemas.microsoft.com/office/drawing/2014/main" id="{9D5098D7-90D3-8D7F-F5FE-E33A3B7F91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c6f90357f_0_5:notes">
            <a:extLst>
              <a:ext uri="{FF2B5EF4-FFF2-40B4-BE49-F238E27FC236}">
                <a16:creationId xmlns:a16="http://schemas.microsoft.com/office/drawing/2014/main" id="{E2B26BC6-30F5-DE70-61F4-6AA967B141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9531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90357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90357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9512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10" Type="http://schemas.openxmlformats.org/officeDocument/2006/relationships/image" Target="../media/image2.jpg"/><Relationship Id="rId4" Type="http://schemas.openxmlformats.org/officeDocument/2006/relationships/image" Target="../media/image4.png"/><Relationship Id="rId9" Type="http://schemas.openxmlformats.org/officeDocument/2006/relationships/customXml" Target="../ink/ink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customXml" Target="../ink/ink6.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AED834-F246-47EA-73B9-2E25AB65B596}"/>
              </a:ext>
            </a:extLst>
          </p:cNvPr>
          <p:cNvSpPr txBox="1"/>
          <p:nvPr/>
        </p:nvSpPr>
        <p:spPr>
          <a:xfrm>
            <a:off x="190895" y="377126"/>
            <a:ext cx="8861447" cy="1077218"/>
          </a:xfrm>
          <a:prstGeom prst="rect">
            <a:avLst/>
          </a:prstGeom>
          <a:noFill/>
        </p:spPr>
        <p:txBody>
          <a:bodyPr wrap="square" rtlCol="0">
            <a:spAutoFit/>
          </a:bodyPr>
          <a:lstStyle/>
          <a:p>
            <a:pPr algn="ctr"/>
            <a:r>
              <a:rPr lang="en-US" sz="2000" b="1" dirty="0" err="1"/>
              <a:t>TruthfulRAG</a:t>
            </a:r>
            <a:r>
              <a:rPr lang="en-US" sz="2000" b="1" dirty="0"/>
              <a:t> v5: A Dynamic, Domain-Agnostic Knowledge-Graph Retrieval-Augmented Generation Pipeline with Conflict Resolution</a:t>
            </a:r>
            <a:endParaRPr lang="en-US" sz="2400" b="1" dirty="0"/>
          </a:p>
          <a:p>
            <a:pPr algn="ctr"/>
            <a:endParaRPr lang="en-US" sz="2400" b="1" dirty="0"/>
          </a:p>
        </p:txBody>
      </p:sp>
      <p:pic>
        <p:nvPicPr>
          <p:cNvPr id="4" name="Picture 3">
            <a:extLst>
              <a:ext uri="{FF2B5EF4-FFF2-40B4-BE49-F238E27FC236}">
                <a16:creationId xmlns:a16="http://schemas.microsoft.com/office/drawing/2014/main" id="{C9477B33-5045-5B91-1C6D-BFE2B78F4A3F}"/>
              </a:ext>
            </a:extLst>
          </p:cNvPr>
          <p:cNvPicPr>
            <a:picLocks noChangeAspect="1"/>
          </p:cNvPicPr>
          <p:nvPr/>
        </p:nvPicPr>
        <p:blipFill>
          <a:blip r:embed="rId2"/>
          <a:stretch>
            <a:fillRect/>
          </a:stretch>
        </p:blipFill>
        <p:spPr>
          <a:xfrm>
            <a:off x="3681357" y="3080797"/>
            <a:ext cx="1480607" cy="1139373"/>
          </a:xfrm>
          <a:prstGeom prst="rect">
            <a:avLst/>
          </a:prstGeom>
        </p:spPr>
      </p:pic>
      <p:sp>
        <p:nvSpPr>
          <p:cNvPr id="5" name="TextBox 4">
            <a:extLst>
              <a:ext uri="{FF2B5EF4-FFF2-40B4-BE49-F238E27FC236}">
                <a16:creationId xmlns:a16="http://schemas.microsoft.com/office/drawing/2014/main" id="{9B223211-4FFD-F3B4-5890-55657B613674}"/>
              </a:ext>
            </a:extLst>
          </p:cNvPr>
          <p:cNvSpPr txBox="1"/>
          <p:nvPr/>
        </p:nvSpPr>
        <p:spPr>
          <a:xfrm>
            <a:off x="-172370" y="1841180"/>
            <a:ext cx="4262511" cy="1169551"/>
          </a:xfrm>
          <a:prstGeom prst="rect">
            <a:avLst/>
          </a:prstGeom>
          <a:noFill/>
        </p:spPr>
        <p:txBody>
          <a:bodyPr wrap="square" rtlCol="0">
            <a:spAutoFit/>
          </a:bodyPr>
          <a:lstStyle/>
          <a:p>
            <a:pPr algn="ctr"/>
            <a:r>
              <a:rPr lang="en-US" dirty="0"/>
              <a:t>Presented by</a:t>
            </a:r>
          </a:p>
          <a:p>
            <a:pPr algn="ctr"/>
            <a:r>
              <a:rPr lang="en-IN" b="1" dirty="0"/>
              <a:t>EESH SAXENA</a:t>
            </a:r>
          </a:p>
          <a:p>
            <a:pPr algn="ctr"/>
            <a:r>
              <a:rPr lang="en-IN" dirty="0"/>
              <a:t>Roll No.</a:t>
            </a:r>
            <a:r>
              <a:rPr lang="en-US" dirty="0"/>
              <a:t> 230101032</a:t>
            </a:r>
          </a:p>
          <a:p>
            <a:pPr algn="ctr"/>
            <a:r>
              <a:rPr lang="en-IN" dirty="0"/>
              <a:t>Project – I (CS3201)</a:t>
            </a:r>
          </a:p>
          <a:p>
            <a:endParaRPr lang="en-US" dirty="0"/>
          </a:p>
        </p:txBody>
      </p:sp>
      <p:sp>
        <p:nvSpPr>
          <p:cNvPr id="6" name="TextBox 5">
            <a:extLst>
              <a:ext uri="{FF2B5EF4-FFF2-40B4-BE49-F238E27FC236}">
                <a16:creationId xmlns:a16="http://schemas.microsoft.com/office/drawing/2014/main" id="{5DBE4FFF-77F8-02E4-BC54-AE3C993B474E}"/>
              </a:ext>
            </a:extLst>
          </p:cNvPr>
          <p:cNvSpPr txBox="1"/>
          <p:nvPr/>
        </p:nvSpPr>
        <p:spPr>
          <a:xfrm>
            <a:off x="4789831" y="2056623"/>
            <a:ext cx="4262511" cy="738664"/>
          </a:xfrm>
          <a:prstGeom prst="rect">
            <a:avLst/>
          </a:prstGeom>
          <a:noFill/>
        </p:spPr>
        <p:txBody>
          <a:bodyPr wrap="square" rtlCol="0">
            <a:spAutoFit/>
          </a:bodyPr>
          <a:lstStyle/>
          <a:p>
            <a:pPr algn="ctr"/>
            <a:r>
              <a:rPr lang="en-IN" dirty="0"/>
              <a:t>Supervised by</a:t>
            </a:r>
          </a:p>
          <a:p>
            <a:pPr algn="ctr"/>
            <a:r>
              <a:rPr lang="en-IN" b="1" dirty="0"/>
              <a:t>Dr. Jennil Thiyam</a:t>
            </a:r>
          </a:p>
          <a:p>
            <a:endParaRPr lang="en-US" dirty="0"/>
          </a:p>
        </p:txBody>
      </p:sp>
      <p:sp>
        <p:nvSpPr>
          <p:cNvPr id="8" name="TextBox 7">
            <a:extLst>
              <a:ext uri="{FF2B5EF4-FFF2-40B4-BE49-F238E27FC236}">
                <a16:creationId xmlns:a16="http://schemas.microsoft.com/office/drawing/2014/main" id="{0966DA28-43D2-B60F-3CAC-892E9EC2E1D9}"/>
              </a:ext>
            </a:extLst>
          </p:cNvPr>
          <p:cNvSpPr txBox="1"/>
          <p:nvPr/>
        </p:nvSpPr>
        <p:spPr>
          <a:xfrm>
            <a:off x="250589" y="4220170"/>
            <a:ext cx="8342142" cy="923330"/>
          </a:xfrm>
          <a:prstGeom prst="rect">
            <a:avLst/>
          </a:prstGeom>
          <a:noFill/>
        </p:spPr>
        <p:txBody>
          <a:bodyPr wrap="square">
            <a:spAutoFit/>
          </a:bodyPr>
          <a:lstStyle/>
          <a:p>
            <a:pPr algn="ctr"/>
            <a:r>
              <a:rPr lang="en-IN" dirty="0"/>
              <a:t>Department of Computer Science and Engineering</a:t>
            </a:r>
          </a:p>
          <a:p>
            <a:pPr algn="ctr"/>
            <a:r>
              <a:rPr lang="en-IN" dirty="0"/>
              <a:t>Indian Institute of Information Technology Senapati, Manipur</a:t>
            </a:r>
          </a:p>
          <a:p>
            <a:pPr algn="ctr"/>
            <a:r>
              <a:rPr lang="en-US"/>
              <a:t>29/04/2026</a:t>
            </a:r>
            <a:endParaRPr lang="en-US" dirty="0"/>
          </a:p>
        </p:txBody>
      </p:sp>
    </p:spTree>
    <p:extLst>
      <p:ext uri="{BB962C8B-B14F-4D97-AF65-F5344CB8AC3E}">
        <p14:creationId xmlns:p14="http://schemas.microsoft.com/office/powerpoint/2010/main" val="1590086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CCCF4382-76F3-5027-C824-43D388F955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2D4792-65D5-E7DE-BC52-CE41BAF1ED7F}"/>
              </a:ext>
            </a:extLst>
          </p:cNvPr>
          <p:cNvSpPr txBox="1"/>
          <p:nvPr/>
        </p:nvSpPr>
        <p:spPr>
          <a:xfrm>
            <a:off x="2629759" y="265498"/>
            <a:ext cx="4572000" cy="338554"/>
          </a:xfrm>
          <a:prstGeom prst="rect">
            <a:avLst/>
          </a:prstGeom>
          <a:noFill/>
        </p:spPr>
        <p:txBody>
          <a:bodyPr wrap="square">
            <a:spAutoFit/>
          </a:bodyPr>
          <a:lstStyle/>
          <a:p>
            <a:pPr algn="l">
              <a:buNone/>
            </a:pPr>
            <a:r>
              <a:rPr lang="en-IN" sz="1600" b="1" i="0" dirty="0">
                <a:solidFill>
                  <a:schemeClr val="tx1"/>
                </a:solidFill>
                <a:effectLst/>
                <a:latin typeface="Old Standard TT" panose="020B0604020202020204" charset="0"/>
              </a:rPr>
              <a:t>Introduction, Objective &amp; Contribution</a:t>
            </a:r>
          </a:p>
        </p:txBody>
      </p:sp>
      <p:sp>
        <p:nvSpPr>
          <p:cNvPr id="7" name="TextBox 6">
            <a:extLst>
              <a:ext uri="{FF2B5EF4-FFF2-40B4-BE49-F238E27FC236}">
                <a16:creationId xmlns:a16="http://schemas.microsoft.com/office/drawing/2014/main" id="{6EF28F21-F682-F850-E199-0BE0411624B2}"/>
              </a:ext>
            </a:extLst>
          </p:cNvPr>
          <p:cNvSpPr txBox="1"/>
          <p:nvPr/>
        </p:nvSpPr>
        <p:spPr>
          <a:xfrm>
            <a:off x="65314" y="604052"/>
            <a:ext cx="8432418" cy="1762021"/>
          </a:xfrm>
          <a:prstGeom prst="rect">
            <a:avLst/>
          </a:prstGeom>
          <a:noFill/>
        </p:spPr>
        <p:txBody>
          <a:bodyPr wrap="square">
            <a:spAutoFit/>
          </a:bodyPr>
          <a:lstStyle/>
          <a:p>
            <a:r>
              <a:rPr lang="en-US" b="1" dirty="0">
                <a:solidFill>
                  <a:schemeClr val="tx1"/>
                </a:solidFill>
              </a:rPr>
              <a:t> </a:t>
            </a:r>
          </a:p>
          <a:p>
            <a:r>
              <a:rPr lang="en-US" b="1" dirty="0">
                <a:solidFill>
                  <a:schemeClr val="tx1"/>
                </a:solidFill>
              </a:rPr>
              <a:t>    The Problem</a:t>
            </a:r>
            <a:br>
              <a:rPr lang="en-US" b="1" dirty="0">
                <a:solidFill>
                  <a:schemeClr val="tx1"/>
                </a:solidFill>
              </a:rPr>
            </a:br>
            <a:br>
              <a:rPr lang="en-US" sz="1050" dirty="0">
                <a:solidFill>
                  <a:schemeClr val="tx1"/>
                </a:solidFill>
              </a:rPr>
            </a:br>
            <a:r>
              <a:rPr lang="en-US" sz="1050" dirty="0">
                <a:solidFill>
                  <a:schemeClr val="tx1"/>
                </a:solidFill>
                <a:latin typeface="Old Standard TT" panose="020B0604020202020204" charset="0"/>
              </a:rPr>
              <a:t>      </a:t>
            </a:r>
            <a:r>
              <a:rPr lang="en-US" sz="1400" dirty="0">
                <a:solidFill>
                  <a:schemeClr val="tx1"/>
                </a:solidFill>
                <a:latin typeface="Old Standard TT" panose="020B0604020202020204" charset="0"/>
              </a:rPr>
              <a:t>LLMs hallucinate ,they give confident, wrong answers</a:t>
            </a:r>
            <a:br>
              <a:rPr lang="en-US" sz="1400" dirty="0">
                <a:solidFill>
                  <a:schemeClr val="tx1"/>
                </a:solidFill>
                <a:latin typeface="Old Standard TT" panose="020B0604020202020204" charset="0"/>
              </a:rPr>
            </a:br>
            <a:r>
              <a:rPr lang="en-US" sz="1400" dirty="0">
                <a:solidFill>
                  <a:schemeClr val="tx1"/>
                </a:solidFill>
                <a:latin typeface="Old Standard TT" panose="020B0604020202020204" charset="0"/>
              </a:rPr>
              <a:t>     Standard RAG (</a:t>
            </a:r>
            <a:r>
              <a:rPr lang="en-US" sz="1400" dirty="0" err="1">
                <a:solidFill>
                  <a:schemeClr val="tx1"/>
                </a:solidFill>
                <a:latin typeface="Old Standard TT" panose="020B0604020202020204" charset="0"/>
              </a:rPr>
              <a:t>LangChain</a:t>
            </a:r>
            <a:r>
              <a:rPr lang="en-US" sz="1400" dirty="0">
                <a:solidFill>
                  <a:schemeClr val="tx1"/>
                </a:solidFill>
                <a:latin typeface="Old Standard TT" panose="020B0604020202020204" charset="0"/>
              </a:rPr>
              <a:t>) passes contradicting documents to the LLM without resolving them</a:t>
            </a:r>
            <a:br>
              <a:rPr lang="en-US" sz="1400" dirty="0">
                <a:solidFill>
                  <a:schemeClr val="tx1"/>
                </a:solidFill>
                <a:latin typeface="Old Standard TT" panose="020B0604020202020204" charset="0"/>
              </a:rPr>
            </a:br>
            <a:r>
              <a:rPr lang="en-US" sz="1400" dirty="0">
                <a:solidFill>
                  <a:schemeClr val="tx1"/>
                </a:solidFill>
                <a:latin typeface="Old Standard TT" panose="020B0604020202020204" charset="0"/>
              </a:rPr>
              <a:t>     A 1985 document and a 2023 document get the same retrieval score , recency is ignored</a:t>
            </a:r>
            <a:br>
              <a:rPr lang="en-US" sz="1400" dirty="0">
                <a:solidFill>
                  <a:schemeClr val="tx1"/>
                </a:solidFill>
                <a:latin typeface="Old Standard TT" panose="020B0604020202020204" charset="0"/>
              </a:rPr>
            </a:br>
            <a:r>
              <a:rPr lang="en-US" sz="1400" dirty="0">
                <a:solidFill>
                  <a:schemeClr val="tx1"/>
                </a:solidFill>
                <a:latin typeface="Old Standard TT" panose="020B0604020202020204" charset="0"/>
              </a:rPr>
              <a:t>     No system tells you </a:t>
            </a:r>
            <a:r>
              <a:rPr lang="en-US" sz="1400" i="1" dirty="0">
                <a:solidFill>
                  <a:schemeClr val="tx1"/>
                </a:solidFill>
                <a:latin typeface="Old Standard TT" panose="020B0604020202020204" charset="0"/>
              </a:rPr>
              <a:t>how confident</a:t>
            </a:r>
            <a:r>
              <a:rPr lang="en-US" sz="1400" dirty="0">
                <a:solidFill>
                  <a:schemeClr val="tx1"/>
                </a:solidFill>
                <a:latin typeface="Old Standard TT" panose="020B0604020202020204" charset="0"/>
              </a:rPr>
              <a:t> the answer is</a:t>
            </a:r>
            <a:br>
              <a:rPr lang="en-US" sz="1050" dirty="0">
                <a:solidFill>
                  <a:schemeClr val="tx1"/>
                </a:solidFill>
              </a:rPr>
            </a:br>
            <a:endParaRPr lang="en-IN" dirty="0">
              <a:solidFill>
                <a:schemeClr val="tx1"/>
              </a:solidFill>
            </a:endParaRPr>
          </a:p>
        </p:txBody>
      </p:sp>
      <p:sp>
        <p:nvSpPr>
          <p:cNvPr id="9" name="TextBox 8">
            <a:extLst>
              <a:ext uri="{FF2B5EF4-FFF2-40B4-BE49-F238E27FC236}">
                <a16:creationId xmlns:a16="http://schemas.microsoft.com/office/drawing/2014/main" id="{3CD072F0-9CC9-AB4B-E9C2-4B32AF75C176}"/>
              </a:ext>
            </a:extLst>
          </p:cNvPr>
          <p:cNvSpPr txBox="1"/>
          <p:nvPr/>
        </p:nvSpPr>
        <p:spPr>
          <a:xfrm>
            <a:off x="290477" y="2655336"/>
            <a:ext cx="3427281" cy="1815882"/>
          </a:xfrm>
          <a:prstGeom prst="rect">
            <a:avLst/>
          </a:prstGeom>
          <a:noFill/>
        </p:spPr>
        <p:txBody>
          <a:bodyPr wrap="square">
            <a:spAutoFit/>
          </a:bodyPr>
          <a:lstStyle/>
          <a:p>
            <a:pPr algn="l">
              <a:buNone/>
            </a:pPr>
            <a:r>
              <a:rPr lang="en-US" b="1" i="0" dirty="0">
                <a:solidFill>
                  <a:schemeClr val="tx1"/>
                </a:solidFill>
                <a:effectLst/>
                <a:latin typeface="Old Standard TT" panose="020B0604020202020204" charset="0"/>
              </a:rPr>
              <a:t>Objective</a:t>
            </a:r>
            <a:endParaRPr lang="en-US" b="0" i="0" dirty="0">
              <a:solidFill>
                <a:schemeClr val="tx1"/>
              </a:solidFill>
              <a:effectLst/>
              <a:latin typeface="Segoe WPC"/>
            </a:endParaRPr>
          </a:p>
          <a:p>
            <a:pPr algn="l"/>
            <a:endParaRPr lang="en-US" b="0" i="0" dirty="0">
              <a:solidFill>
                <a:schemeClr val="tx1"/>
              </a:solidFill>
              <a:effectLst/>
              <a:latin typeface="Old Standard TT" panose="020B0604020202020204" charset="0"/>
            </a:endParaRPr>
          </a:p>
          <a:p>
            <a:pPr algn="l"/>
            <a:endParaRPr lang="en-US" dirty="0">
              <a:solidFill>
                <a:schemeClr val="tx1"/>
              </a:solidFill>
              <a:latin typeface="Old Standard TT" panose="020B0604020202020204" charset="0"/>
            </a:endParaRPr>
          </a:p>
          <a:p>
            <a:pPr algn="l"/>
            <a:r>
              <a:rPr lang="en-US" b="0" i="0" dirty="0">
                <a:solidFill>
                  <a:schemeClr val="tx1"/>
                </a:solidFill>
                <a:effectLst/>
                <a:latin typeface="Old Standard TT" panose="020B0604020202020204" charset="0"/>
              </a:rPr>
              <a:t>Implement </a:t>
            </a:r>
            <a:r>
              <a:rPr lang="en-US" b="0" i="0" dirty="0" err="1">
                <a:solidFill>
                  <a:schemeClr val="tx1"/>
                </a:solidFill>
                <a:effectLst/>
                <a:latin typeface="Old Standard TT" panose="020B0604020202020204" charset="0"/>
              </a:rPr>
              <a:t>TruthfulRAG</a:t>
            </a:r>
            <a:r>
              <a:rPr lang="en-US" b="0" i="0" dirty="0">
                <a:solidFill>
                  <a:schemeClr val="tx1"/>
                </a:solidFill>
                <a:effectLst/>
                <a:latin typeface="Old Standard TT" panose="020B0604020202020204" charset="0"/>
              </a:rPr>
              <a:t> v4 (arXiv:2511.10375) faithfully</a:t>
            </a:r>
          </a:p>
          <a:p>
            <a:pPr algn="l"/>
            <a:r>
              <a:rPr lang="en-US" b="0" i="0" dirty="0">
                <a:solidFill>
                  <a:schemeClr val="tx1"/>
                </a:solidFill>
                <a:effectLst/>
                <a:latin typeface="Old Standard TT" panose="020B0604020202020204" charset="0"/>
              </a:rPr>
              <a:t>Identify its weaknesses</a:t>
            </a:r>
          </a:p>
          <a:p>
            <a:pPr algn="l"/>
            <a:r>
              <a:rPr lang="en-US" b="0" i="0" dirty="0">
                <a:solidFill>
                  <a:schemeClr val="tx1"/>
                </a:solidFill>
                <a:effectLst/>
                <a:latin typeface="Old Standard TT" panose="020B0604020202020204" charset="0"/>
              </a:rPr>
              <a:t>Build v5 with  novel improvements that fix those weaknesses</a:t>
            </a:r>
          </a:p>
        </p:txBody>
      </p:sp>
      <p:sp>
        <p:nvSpPr>
          <p:cNvPr id="11" name="TextBox 10">
            <a:extLst>
              <a:ext uri="{FF2B5EF4-FFF2-40B4-BE49-F238E27FC236}">
                <a16:creationId xmlns:a16="http://schemas.microsoft.com/office/drawing/2014/main" id="{94FFB751-A4AC-7971-6BC2-2C2C49E44277}"/>
              </a:ext>
            </a:extLst>
          </p:cNvPr>
          <p:cNvSpPr txBox="1"/>
          <p:nvPr/>
        </p:nvSpPr>
        <p:spPr>
          <a:xfrm>
            <a:off x="4281523" y="3086223"/>
            <a:ext cx="4572000" cy="1384995"/>
          </a:xfrm>
          <a:prstGeom prst="rect">
            <a:avLst/>
          </a:prstGeom>
          <a:noFill/>
        </p:spPr>
        <p:txBody>
          <a:bodyPr wrap="square">
            <a:spAutoFit/>
          </a:bodyPr>
          <a:lstStyle/>
          <a:p>
            <a:r>
              <a:rPr lang="en-IN" dirty="0">
                <a:solidFill>
                  <a:schemeClr val="tx1"/>
                </a:solidFill>
                <a:latin typeface="Old Standard TT" panose="020B0604020202020204" charset="0"/>
              </a:rPr>
              <a:t>Cross-document corroboration scoring</a:t>
            </a:r>
            <a:br>
              <a:rPr lang="en-IN" dirty="0">
                <a:solidFill>
                  <a:schemeClr val="tx1"/>
                </a:solidFill>
                <a:latin typeface="Old Standard TT" panose="020B0604020202020204" charset="0"/>
              </a:rPr>
            </a:br>
            <a:r>
              <a:rPr lang="en-IN" dirty="0">
                <a:solidFill>
                  <a:schemeClr val="tx1"/>
                </a:solidFill>
                <a:latin typeface="Old Standard TT" panose="020B0604020202020204" charset="0"/>
              </a:rPr>
              <a:t>Temporal decay</a:t>
            </a:r>
            <a:br>
              <a:rPr lang="en-IN" dirty="0">
                <a:solidFill>
                  <a:schemeClr val="tx1"/>
                </a:solidFill>
                <a:latin typeface="Old Standard TT" panose="020B0604020202020204" charset="0"/>
              </a:rPr>
            </a:br>
            <a:r>
              <a:rPr lang="en-IN" dirty="0">
                <a:solidFill>
                  <a:schemeClr val="tx1"/>
                </a:solidFill>
                <a:latin typeface="Old Standard TT" panose="020B0604020202020204" charset="0"/>
              </a:rPr>
              <a:t>Hybrid retrieval (BM25 + </a:t>
            </a:r>
            <a:r>
              <a:rPr lang="en-IN" dirty="0" err="1">
                <a:solidFill>
                  <a:schemeClr val="tx1"/>
                </a:solidFill>
                <a:latin typeface="Old Standard TT" panose="020B0604020202020204" charset="0"/>
              </a:rPr>
              <a:t>Semantic+RRF</a:t>
            </a:r>
            <a:r>
              <a:rPr lang="en-IN" dirty="0">
                <a:solidFill>
                  <a:schemeClr val="tx1"/>
                </a:solidFill>
                <a:latin typeface="Old Standard TT" panose="020B0604020202020204" charset="0"/>
              </a:rPr>
              <a:t>)</a:t>
            </a:r>
            <a:br>
              <a:rPr lang="en-IN" dirty="0">
                <a:solidFill>
                  <a:schemeClr val="tx1"/>
                </a:solidFill>
                <a:latin typeface="Old Standard TT" panose="020B0604020202020204" charset="0"/>
              </a:rPr>
            </a:br>
            <a:r>
              <a:rPr lang="en-IN" dirty="0">
                <a:solidFill>
                  <a:schemeClr val="tx1"/>
                </a:solidFill>
                <a:latin typeface="Old Standard TT" panose="020B0604020202020204" charset="0"/>
              </a:rPr>
              <a:t>Temporal graph snapshots</a:t>
            </a:r>
            <a:br>
              <a:rPr lang="en-IN" dirty="0">
                <a:solidFill>
                  <a:schemeClr val="tx1"/>
                </a:solidFill>
                <a:latin typeface="Old Standard TT" panose="020B0604020202020204" charset="0"/>
              </a:rPr>
            </a:br>
            <a:r>
              <a:rPr lang="en-IN" dirty="0">
                <a:solidFill>
                  <a:schemeClr val="tx1"/>
                </a:solidFill>
                <a:latin typeface="Old Standard TT" panose="020B0604020202020204" charset="0"/>
              </a:rPr>
              <a:t>Explanation chain</a:t>
            </a:r>
            <a:br>
              <a:rPr lang="en-IN" dirty="0">
                <a:solidFill>
                  <a:schemeClr val="tx1"/>
                </a:solidFill>
                <a:latin typeface="Old Standard TT" panose="020B0604020202020204" charset="0"/>
              </a:rPr>
            </a:br>
            <a:r>
              <a:rPr lang="en-IN" dirty="0">
                <a:solidFill>
                  <a:schemeClr val="tx1"/>
                </a:solidFill>
                <a:latin typeface="Old Standard TT" panose="020B0604020202020204" charset="0"/>
              </a:rPr>
              <a:t>Calibrated confidence score (0 - 100%)</a:t>
            </a:r>
          </a:p>
        </p:txBody>
      </p:sp>
      <p:sp>
        <p:nvSpPr>
          <p:cNvPr id="13" name="TextBox 12">
            <a:extLst>
              <a:ext uri="{FF2B5EF4-FFF2-40B4-BE49-F238E27FC236}">
                <a16:creationId xmlns:a16="http://schemas.microsoft.com/office/drawing/2014/main" id="{7F34BFB3-6146-83AB-655C-B4AC2D1FB604}"/>
              </a:ext>
            </a:extLst>
          </p:cNvPr>
          <p:cNvSpPr txBox="1"/>
          <p:nvPr/>
        </p:nvSpPr>
        <p:spPr>
          <a:xfrm>
            <a:off x="4281523" y="2580139"/>
            <a:ext cx="4572000" cy="307777"/>
          </a:xfrm>
          <a:prstGeom prst="rect">
            <a:avLst/>
          </a:prstGeom>
          <a:noFill/>
        </p:spPr>
        <p:txBody>
          <a:bodyPr wrap="square">
            <a:spAutoFit/>
          </a:bodyPr>
          <a:lstStyle/>
          <a:p>
            <a:r>
              <a:rPr lang="en-IN" b="1" i="0" dirty="0">
                <a:solidFill>
                  <a:schemeClr val="tx1"/>
                </a:solidFill>
                <a:effectLst/>
                <a:latin typeface="Old Standard TT" panose="020B0604020202020204" charset="0"/>
              </a:rPr>
              <a:t>Contribution</a:t>
            </a:r>
            <a:endParaRPr lang="en-IN" b="1" dirty="0">
              <a:solidFill>
                <a:schemeClr val="tx1"/>
              </a:solidFill>
              <a:latin typeface="Old Standard TT" panose="020B0604020202020204" charset="0"/>
            </a:endParaRPr>
          </a:p>
        </p:txBody>
      </p:sp>
    </p:spTree>
    <p:extLst>
      <p:ext uri="{BB962C8B-B14F-4D97-AF65-F5344CB8AC3E}">
        <p14:creationId xmlns:p14="http://schemas.microsoft.com/office/powerpoint/2010/main" val="2291599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63B3C140-1CCD-4B69-DBD1-10FCDC69BE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FAD1B5-49E4-F03A-E508-E1CFA68548E4}"/>
              </a:ext>
            </a:extLst>
          </p:cNvPr>
          <p:cNvSpPr txBox="1"/>
          <p:nvPr/>
        </p:nvSpPr>
        <p:spPr>
          <a:xfrm>
            <a:off x="2444129" y="161536"/>
            <a:ext cx="4572000" cy="461665"/>
          </a:xfrm>
          <a:prstGeom prst="rect">
            <a:avLst/>
          </a:prstGeom>
          <a:noFill/>
        </p:spPr>
        <p:txBody>
          <a:bodyPr wrap="square">
            <a:spAutoFit/>
          </a:bodyPr>
          <a:lstStyle/>
          <a:p>
            <a:r>
              <a:rPr lang="en" sz="2400" dirty="0">
                <a:solidFill>
                  <a:schemeClr val="tx1"/>
                </a:solidFill>
                <a:latin typeface="Old Standard TT" panose="020B0604020202020204" charset="0"/>
              </a:rPr>
              <a:t>Background/Existing Work </a:t>
            </a:r>
            <a:endParaRPr lang="en-IN" sz="2400" dirty="0">
              <a:solidFill>
                <a:schemeClr val="tx1"/>
              </a:solidFill>
              <a:latin typeface="Old Standard TT" panose="020B0604020202020204" charset="0"/>
            </a:endParaRPr>
          </a:p>
        </p:txBody>
      </p:sp>
      <p:sp>
        <p:nvSpPr>
          <p:cNvPr id="6" name="TextBox 5">
            <a:extLst>
              <a:ext uri="{FF2B5EF4-FFF2-40B4-BE49-F238E27FC236}">
                <a16:creationId xmlns:a16="http://schemas.microsoft.com/office/drawing/2014/main" id="{B42BAA5E-9CFF-9C10-B1DD-87CE7DD5D2C1}"/>
              </a:ext>
            </a:extLst>
          </p:cNvPr>
          <p:cNvSpPr txBox="1"/>
          <p:nvPr/>
        </p:nvSpPr>
        <p:spPr>
          <a:xfrm>
            <a:off x="4630439" y="1171592"/>
            <a:ext cx="4572000" cy="1384995"/>
          </a:xfrm>
          <a:prstGeom prst="rect">
            <a:avLst/>
          </a:prstGeom>
          <a:noFill/>
        </p:spPr>
        <p:txBody>
          <a:bodyPr wrap="square">
            <a:spAutoFit/>
          </a:bodyPr>
          <a:lstStyle/>
          <a:p>
            <a:r>
              <a:rPr lang="en-US" i="0" dirty="0">
                <a:solidFill>
                  <a:schemeClr val="tx1"/>
                </a:solidFill>
                <a:effectLst/>
                <a:latin typeface="Segoe WPC"/>
              </a:rPr>
              <a:t>Every system above  including the most recent  stores facts without a year field. When a 1985 fact and a 2023 fact contradict each other, their retrieval scores differ by only 0.028 (computed live). This is below the elimination threshold of 0.30  so both contradicting facts reach the LLM, and it hedges.</a:t>
            </a:r>
            <a:endParaRPr lang="en-IN" dirty="0">
              <a:solidFill>
                <a:schemeClr val="tx1"/>
              </a:solidFill>
            </a:endParaRPr>
          </a:p>
        </p:txBody>
      </p:sp>
      <p:sp>
        <p:nvSpPr>
          <p:cNvPr id="10" name="TextBox 9">
            <a:extLst>
              <a:ext uri="{FF2B5EF4-FFF2-40B4-BE49-F238E27FC236}">
                <a16:creationId xmlns:a16="http://schemas.microsoft.com/office/drawing/2014/main" id="{677E037B-6023-5803-34CA-43C306356F23}"/>
              </a:ext>
            </a:extLst>
          </p:cNvPr>
          <p:cNvSpPr txBox="1"/>
          <p:nvPr/>
        </p:nvSpPr>
        <p:spPr>
          <a:xfrm>
            <a:off x="4630439" y="863815"/>
            <a:ext cx="4572000" cy="307777"/>
          </a:xfrm>
          <a:prstGeom prst="rect">
            <a:avLst/>
          </a:prstGeom>
          <a:noFill/>
        </p:spPr>
        <p:txBody>
          <a:bodyPr wrap="square">
            <a:spAutoFit/>
          </a:bodyPr>
          <a:lstStyle/>
          <a:p>
            <a:r>
              <a:rPr lang="en-US" b="1" i="0" dirty="0">
                <a:solidFill>
                  <a:schemeClr val="tx1"/>
                </a:solidFill>
                <a:effectLst/>
                <a:latin typeface="Segoe WPC"/>
              </a:rPr>
              <a:t>The Core Problem with All Existing Systems</a:t>
            </a:r>
            <a:endParaRPr lang="en-IN" dirty="0">
              <a:solidFill>
                <a:schemeClr val="tx1"/>
              </a:solidFill>
            </a:endParaRPr>
          </a:p>
        </p:txBody>
      </p:sp>
      <p:sp>
        <p:nvSpPr>
          <p:cNvPr id="14" name="TextBox 13">
            <a:extLst>
              <a:ext uri="{FF2B5EF4-FFF2-40B4-BE49-F238E27FC236}">
                <a16:creationId xmlns:a16="http://schemas.microsoft.com/office/drawing/2014/main" id="{C921AFBA-7E1C-A5E9-7A0D-92242DE489E4}"/>
              </a:ext>
            </a:extLst>
          </p:cNvPr>
          <p:cNvSpPr txBox="1"/>
          <p:nvPr/>
        </p:nvSpPr>
        <p:spPr>
          <a:xfrm>
            <a:off x="4630439" y="2673639"/>
            <a:ext cx="4572000" cy="2031325"/>
          </a:xfrm>
          <a:prstGeom prst="rect">
            <a:avLst/>
          </a:prstGeom>
          <a:noFill/>
        </p:spPr>
        <p:txBody>
          <a:bodyPr wrap="square">
            <a:spAutoFit/>
          </a:bodyPr>
          <a:lstStyle/>
          <a:p>
            <a:pPr algn="l">
              <a:buNone/>
            </a:pPr>
            <a:r>
              <a:rPr lang="en-US" b="1" i="0" dirty="0">
                <a:solidFill>
                  <a:schemeClr val="tx1"/>
                </a:solidFill>
                <a:effectLst/>
                <a:latin typeface="Segoe WPC"/>
              </a:rPr>
              <a:t>How </a:t>
            </a:r>
            <a:r>
              <a:rPr lang="en-US" b="1" i="0" dirty="0" err="1">
                <a:solidFill>
                  <a:schemeClr val="tx1"/>
                </a:solidFill>
                <a:effectLst/>
                <a:latin typeface="Segoe WPC"/>
              </a:rPr>
              <a:t>TruthfulRAG</a:t>
            </a:r>
            <a:r>
              <a:rPr lang="en-US" b="1" i="0" dirty="0">
                <a:solidFill>
                  <a:schemeClr val="tx1"/>
                </a:solidFill>
                <a:effectLst/>
                <a:latin typeface="Segoe WPC"/>
              </a:rPr>
              <a:t> v5 Solves This-</a:t>
            </a:r>
          </a:p>
          <a:p>
            <a:pPr algn="l">
              <a:buNone/>
            </a:pPr>
            <a:endParaRPr lang="en-US" b="1" i="0" dirty="0">
              <a:solidFill>
                <a:schemeClr val="tx1"/>
              </a:solidFill>
              <a:effectLst/>
              <a:latin typeface="Segoe WPC"/>
            </a:endParaRPr>
          </a:p>
          <a:p>
            <a:pPr algn="l"/>
            <a:r>
              <a:rPr lang="en-US" i="0" dirty="0">
                <a:solidFill>
                  <a:schemeClr val="tx1"/>
                </a:solidFill>
                <a:effectLst/>
                <a:latin typeface="Segoe WPC"/>
              </a:rPr>
              <a:t>Stores </a:t>
            </a:r>
            <a:r>
              <a:rPr lang="en-US" i="0" dirty="0">
                <a:solidFill>
                  <a:schemeClr val="tx1"/>
                </a:solidFill>
                <a:effectLst/>
                <a:latin typeface="ui-monospace"/>
              </a:rPr>
              <a:t>(head, relation, tail, year, </a:t>
            </a:r>
            <a:r>
              <a:rPr lang="en-US" i="0" dirty="0" err="1">
                <a:solidFill>
                  <a:schemeClr val="tx1"/>
                </a:solidFill>
                <a:effectLst/>
                <a:latin typeface="ui-monospace"/>
              </a:rPr>
              <a:t>support_count</a:t>
            </a:r>
            <a:r>
              <a:rPr lang="en-US" i="0" dirty="0">
                <a:solidFill>
                  <a:schemeClr val="tx1"/>
                </a:solidFill>
                <a:effectLst/>
                <a:latin typeface="ui-monospace"/>
              </a:rPr>
              <a:t>)</a:t>
            </a:r>
            <a:r>
              <a:rPr lang="en-US" i="0" dirty="0">
                <a:solidFill>
                  <a:schemeClr val="tx1"/>
                </a:solidFill>
                <a:effectLst/>
                <a:latin typeface="Segoe WPC"/>
              </a:rPr>
              <a:t>  a five-field schema</a:t>
            </a:r>
          </a:p>
          <a:p>
            <a:pPr algn="l"/>
            <a:r>
              <a:rPr lang="en-US" i="0" dirty="0">
                <a:solidFill>
                  <a:schemeClr val="tx1"/>
                </a:solidFill>
                <a:effectLst/>
                <a:latin typeface="Segoe WPC"/>
              </a:rPr>
              <a:t>Applies </a:t>
            </a:r>
            <a:r>
              <a:rPr lang="en-US" i="0" dirty="0">
                <a:solidFill>
                  <a:schemeClr val="tx1"/>
                </a:solidFill>
                <a:effectLst/>
                <a:latin typeface="ui-monospace"/>
              </a:rPr>
              <a:t>exp(−0.08 × age)</a:t>
            </a:r>
            <a:r>
              <a:rPr lang="en-US" i="0" dirty="0">
                <a:solidFill>
                  <a:schemeClr val="tx1"/>
                </a:solidFill>
                <a:effectLst/>
                <a:latin typeface="Segoe WPC"/>
              </a:rPr>
              <a:t> decay at query time</a:t>
            </a:r>
          </a:p>
          <a:p>
            <a:pPr algn="l"/>
            <a:r>
              <a:rPr lang="en-US" i="0" dirty="0">
                <a:solidFill>
                  <a:schemeClr val="tx1"/>
                </a:solidFill>
                <a:effectLst/>
                <a:latin typeface="Segoe WPC"/>
              </a:rPr>
              <a:t>Score gap between same conflicting facts becomes 1.126  stale fact is eliminated </a:t>
            </a:r>
            <a:r>
              <a:rPr lang="en-US" i="1" dirty="0">
                <a:solidFill>
                  <a:schemeClr val="tx1"/>
                </a:solidFill>
                <a:effectLst/>
                <a:latin typeface="Segoe WPC"/>
              </a:rPr>
              <a:t>before</a:t>
            </a:r>
            <a:r>
              <a:rPr lang="en-US" i="0" dirty="0">
                <a:solidFill>
                  <a:schemeClr val="tx1"/>
                </a:solidFill>
                <a:effectLst/>
                <a:latin typeface="Segoe WPC"/>
              </a:rPr>
              <a:t> it reaches the LLM</a:t>
            </a:r>
          </a:p>
          <a:p>
            <a:pPr algn="l"/>
            <a:r>
              <a:rPr lang="en-US" i="0" dirty="0">
                <a:solidFill>
                  <a:schemeClr val="tx1"/>
                </a:solidFill>
                <a:effectLst/>
                <a:latin typeface="Segoe WPC"/>
              </a:rPr>
              <a:t>Result: 2× conflict resolution rate over all baselines</a:t>
            </a:r>
          </a:p>
        </p:txBody>
      </p:sp>
      <p:graphicFrame>
        <p:nvGraphicFramePr>
          <p:cNvPr id="16" name="Table 15">
            <a:extLst>
              <a:ext uri="{FF2B5EF4-FFF2-40B4-BE49-F238E27FC236}">
                <a16:creationId xmlns:a16="http://schemas.microsoft.com/office/drawing/2014/main" id="{EA30CC4B-B0A4-F7E7-3A7D-991394F7C38B}"/>
              </a:ext>
            </a:extLst>
          </p:cNvPr>
          <p:cNvGraphicFramePr>
            <a:graphicFrameLocks noGrp="1"/>
          </p:cNvGraphicFramePr>
          <p:nvPr>
            <p:extLst>
              <p:ext uri="{D42A27DB-BD31-4B8C-83A1-F6EECF244321}">
                <p14:modId xmlns:p14="http://schemas.microsoft.com/office/powerpoint/2010/main" val="3577652199"/>
              </p:ext>
            </p:extLst>
          </p:nvPr>
        </p:nvGraphicFramePr>
        <p:xfrm>
          <a:off x="130629" y="1084867"/>
          <a:ext cx="4382933" cy="3707137"/>
        </p:xfrm>
        <a:graphic>
          <a:graphicData uri="http://schemas.openxmlformats.org/drawingml/2006/table">
            <a:tbl>
              <a:tblPr>
                <a:tableStyleId>{D7AC3CCA-C797-4891-BE02-D94E43425B78}</a:tableStyleId>
              </a:tblPr>
              <a:tblGrid>
                <a:gridCol w="914674">
                  <a:extLst>
                    <a:ext uri="{9D8B030D-6E8A-4147-A177-3AD203B41FA5}">
                      <a16:colId xmlns:a16="http://schemas.microsoft.com/office/drawing/2014/main" val="4255658058"/>
                    </a:ext>
                  </a:extLst>
                </a:gridCol>
                <a:gridCol w="578513">
                  <a:extLst>
                    <a:ext uri="{9D8B030D-6E8A-4147-A177-3AD203B41FA5}">
                      <a16:colId xmlns:a16="http://schemas.microsoft.com/office/drawing/2014/main" val="956746279"/>
                    </a:ext>
                  </a:extLst>
                </a:gridCol>
                <a:gridCol w="1211250">
                  <a:extLst>
                    <a:ext uri="{9D8B030D-6E8A-4147-A177-3AD203B41FA5}">
                      <a16:colId xmlns:a16="http://schemas.microsoft.com/office/drawing/2014/main" val="1335311962"/>
                    </a:ext>
                  </a:extLst>
                </a:gridCol>
                <a:gridCol w="1678496">
                  <a:extLst>
                    <a:ext uri="{9D8B030D-6E8A-4147-A177-3AD203B41FA5}">
                      <a16:colId xmlns:a16="http://schemas.microsoft.com/office/drawing/2014/main" val="3032756102"/>
                    </a:ext>
                  </a:extLst>
                </a:gridCol>
              </a:tblGrid>
              <a:tr h="422809">
                <a:tc>
                  <a:txBody>
                    <a:bodyPr/>
                    <a:lstStyle/>
                    <a:p>
                      <a:pPr algn="l">
                        <a:buNone/>
                      </a:pPr>
                      <a:r>
                        <a:rPr lang="en-IN" sz="900" b="0">
                          <a:solidFill>
                            <a:schemeClr val="tx1"/>
                          </a:solidFill>
                          <a:effectLst/>
                        </a:rPr>
                        <a:t>System</a:t>
                      </a:r>
                    </a:p>
                  </a:txBody>
                  <a:tcPr anchor="ctr"/>
                </a:tc>
                <a:tc>
                  <a:txBody>
                    <a:bodyPr/>
                    <a:lstStyle/>
                    <a:p>
                      <a:pPr algn="l">
                        <a:buNone/>
                      </a:pPr>
                      <a:r>
                        <a:rPr lang="en-IN" sz="900" b="0">
                          <a:solidFill>
                            <a:schemeClr val="tx1"/>
                          </a:solidFill>
                          <a:effectLst/>
                        </a:rPr>
                        <a:t>Year</a:t>
                      </a:r>
                    </a:p>
                  </a:txBody>
                  <a:tcPr anchor="ctr"/>
                </a:tc>
                <a:tc>
                  <a:txBody>
                    <a:bodyPr/>
                    <a:lstStyle/>
                    <a:p>
                      <a:pPr algn="l">
                        <a:buNone/>
                      </a:pPr>
                      <a:r>
                        <a:rPr lang="en-IN" sz="900" b="0">
                          <a:solidFill>
                            <a:schemeClr val="tx1"/>
                          </a:solidFill>
                          <a:effectLst/>
                        </a:rPr>
                        <a:t>What it Does</a:t>
                      </a:r>
                    </a:p>
                  </a:txBody>
                  <a:tcPr anchor="ctr"/>
                </a:tc>
                <a:tc>
                  <a:txBody>
                    <a:bodyPr/>
                    <a:lstStyle/>
                    <a:p>
                      <a:pPr algn="l">
                        <a:buNone/>
                      </a:pPr>
                      <a:r>
                        <a:rPr lang="en-IN" sz="900" b="0">
                          <a:solidFill>
                            <a:schemeClr val="tx1"/>
                          </a:solidFill>
                          <a:effectLst/>
                        </a:rPr>
                        <a:t>Key Limitation</a:t>
                      </a:r>
                    </a:p>
                  </a:txBody>
                  <a:tcPr anchor="ctr"/>
                </a:tc>
                <a:extLst>
                  <a:ext uri="{0D108BD9-81ED-4DB2-BD59-A6C34878D82A}">
                    <a16:rowId xmlns:a16="http://schemas.microsoft.com/office/drawing/2014/main" val="2098334548"/>
                  </a:ext>
                </a:extLst>
              </a:tr>
              <a:tr h="681071">
                <a:tc>
                  <a:txBody>
                    <a:bodyPr/>
                    <a:lstStyle/>
                    <a:p>
                      <a:pPr>
                        <a:buNone/>
                      </a:pPr>
                      <a:r>
                        <a:rPr lang="da-DK" sz="900">
                          <a:solidFill>
                            <a:schemeClr val="tx1"/>
                          </a:solidFill>
                          <a:effectLst/>
                        </a:rPr>
                        <a:t>LangChain RAG (Lewis et al.)</a:t>
                      </a:r>
                    </a:p>
                  </a:txBody>
                  <a:tcPr anchor="ctr"/>
                </a:tc>
                <a:tc>
                  <a:txBody>
                    <a:bodyPr/>
                    <a:lstStyle/>
                    <a:p>
                      <a:pPr>
                        <a:buNone/>
                      </a:pPr>
                      <a:r>
                        <a:rPr lang="en-IN" sz="900">
                          <a:solidFill>
                            <a:schemeClr val="tx1"/>
                          </a:solidFill>
                          <a:effectLst/>
                        </a:rPr>
                        <a:t>2020</a:t>
                      </a:r>
                    </a:p>
                  </a:txBody>
                  <a:tcPr anchor="ctr"/>
                </a:tc>
                <a:tc>
                  <a:txBody>
                    <a:bodyPr/>
                    <a:lstStyle/>
                    <a:p>
                      <a:pPr>
                        <a:buNone/>
                      </a:pPr>
                      <a:r>
                        <a:rPr lang="en-IN" sz="900" dirty="0">
                          <a:solidFill>
                            <a:schemeClr val="tx1"/>
                          </a:solidFill>
                          <a:effectLst/>
                        </a:rPr>
                        <a:t>Chunks + vector similarity</a:t>
                      </a:r>
                    </a:p>
                  </a:txBody>
                  <a:tcPr anchor="ctr"/>
                </a:tc>
                <a:tc>
                  <a:txBody>
                    <a:bodyPr/>
                    <a:lstStyle/>
                    <a:p>
                      <a:pPr>
                        <a:buNone/>
                      </a:pPr>
                      <a:r>
                        <a:rPr lang="en-US" sz="900" dirty="0">
                          <a:solidFill>
                            <a:schemeClr val="tx1"/>
                          </a:solidFill>
                          <a:effectLst/>
                        </a:rPr>
                        <a:t>No conflict detection; no temporal awareness</a:t>
                      </a:r>
                    </a:p>
                  </a:txBody>
                  <a:tcPr anchor="ctr"/>
                </a:tc>
                <a:extLst>
                  <a:ext uri="{0D108BD9-81ED-4DB2-BD59-A6C34878D82A}">
                    <a16:rowId xmlns:a16="http://schemas.microsoft.com/office/drawing/2014/main" val="1109802128"/>
                  </a:ext>
                </a:extLst>
              </a:tr>
              <a:tr h="571497">
                <a:tc>
                  <a:txBody>
                    <a:bodyPr/>
                    <a:lstStyle/>
                    <a:p>
                      <a:pPr>
                        <a:buNone/>
                      </a:pPr>
                      <a:r>
                        <a:rPr lang="en-IN" sz="900">
                          <a:solidFill>
                            <a:schemeClr val="tx1"/>
                          </a:solidFill>
                          <a:effectLst/>
                        </a:rPr>
                        <a:t>Self-RAG (Asai et al.)</a:t>
                      </a:r>
                    </a:p>
                  </a:txBody>
                  <a:tcPr anchor="ctr"/>
                </a:tc>
                <a:tc>
                  <a:txBody>
                    <a:bodyPr/>
                    <a:lstStyle/>
                    <a:p>
                      <a:pPr>
                        <a:buNone/>
                      </a:pPr>
                      <a:r>
                        <a:rPr lang="en-IN" sz="900" dirty="0">
                          <a:solidFill>
                            <a:schemeClr val="tx1"/>
                          </a:solidFill>
                          <a:effectLst/>
                        </a:rPr>
                        <a:t>2023</a:t>
                      </a:r>
                    </a:p>
                  </a:txBody>
                  <a:tcPr anchor="ctr"/>
                </a:tc>
                <a:tc>
                  <a:txBody>
                    <a:bodyPr/>
                    <a:lstStyle/>
                    <a:p>
                      <a:pPr>
                        <a:buNone/>
                      </a:pPr>
                      <a:r>
                        <a:rPr lang="en-IN" sz="900" dirty="0">
                          <a:solidFill>
                            <a:schemeClr val="tx1"/>
                          </a:solidFill>
                          <a:effectLst/>
                        </a:rPr>
                        <a:t>Self-critiques its own retrieval</a:t>
                      </a:r>
                    </a:p>
                  </a:txBody>
                  <a:tcPr anchor="ctr"/>
                </a:tc>
                <a:tc>
                  <a:txBody>
                    <a:bodyPr/>
                    <a:lstStyle/>
                    <a:p>
                      <a:pPr>
                        <a:buNone/>
                      </a:pPr>
                      <a:r>
                        <a:rPr lang="en-IN" sz="900" dirty="0">
                          <a:solidFill>
                            <a:schemeClr val="tx1"/>
                          </a:solidFill>
                          <a:effectLst/>
                        </a:rPr>
                        <a:t>No graph; no temporal decay</a:t>
                      </a:r>
                    </a:p>
                  </a:txBody>
                  <a:tcPr anchor="ctr"/>
                </a:tc>
                <a:extLst>
                  <a:ext uri="{0D108BD9-81ED-4DB2-BD59-A6C34878D82A}">
                    <a16:rowId xmlns:a16="http://schemas.microsoft.com/office/drawing/2014/main" val="3482349441"/>
                  </a:ext>
                </a:extLst>
              </a:tr>
              <a:tr h="571497">
                <a:tc>
                  <a:txBody>
                    <a:bodyPr/>
                    <a:lstStyle/>
                    <a:p>
                      <a:pPr>
                        <a:buNone/>
                      </a:pPr>
                      <a:r>
                        <a:rPr lang="en-IN" sz="900">
                          <a:solidFill>
                            <a:schemeClr val="tx1"/>
                          </a:solidFill>
                          <a:effectLst/>
                        </a:rPr>
                        <a:t>CRAG (Yan et al.)</a:t>
                      </a:r>
                    </a:p>
                  </a:txBody>
                  <a:tcPr anchor="ctr"/>
                </a:tc>
                <a:tc>
                  <a:txBody>
                    <a:bodyPr/>
                    <a:lstStyle/>
                    <a:p>
                      <a:pPr>
                        <a:buNone/>
                      </a:pPr>
                      <a:r>
                        <a:rPr lang="en-IN" sz="900" dirty="0">
                          <a:solidFill>
                            <a:schemeClr val="tx1"/>
                          </a:solidFill>
                          <a:effectLst/>
                        </a:rPr>
                        <a:t>2024</a:t>
                      </a:r>
                    </a:p>
                  </a:txBody>
                  <a:tcPr anchor="ctr"/>
                </a:tc>
                <a:tc>
                  <a:txBody>
                    <a:bodyPr/>
                    <a:lstStyle/>
                    <a:p>
                      <a:pPr>
                        <a:buNone/>
                      </a:pPr>
                      <a:r>
                        <a:rPr lang="en-IN" sz="900" dirty="0">
                          <a:solidFill>
                            <a:schemeClr val="tx1"/>
                          </a:solidFill>
                          <a:effectLst/>
                        </a:rPr>
                        <a:t>Corrective retrieval via web search</a:t>
                      </a:r>
                    </a:p>
                  </a:txBody>
                  <a:tcPr anchor="ctr"/>
                </a:tc>
                <a:tc>
                  <a:txBody>
                    <a:bodyPr/>
                    <a:lstStyle/>
                    <a:p>
                      <a:pPr>
                        <a:buNone/>
                      </a:pPr>
                      <a:r>
                        <a:rPr lang="en-IN" sz="900" dirty="0">
                          <a:solidFill>
                            <a:schemeClr val="tx1"/>
                          </a:solidFill>
                          <a:effectLst/>
                        </a:rPr>
                        <a:t>Cannot resolve intra-corpus conflicts</a:t>
                      </a:r>
                    </a:p>
                  </a:txBody>
                  <a:tcPr anchor="ctr"/>
                </a:tc>
                <a:extLst>
                  <a:ext uri="{0D108BD9-81ED-4DB2-BD59-A6C34878D82A}">
                    <a16:rowId xmlns:a16="http://schemas.microsoft.com/office/drawing/2014/main" val="190926771"/>
                  </a:ext>
                </a:extLst>
              </a:tr>
              <a:tr h="571497">
                <a:tc>
                  <a:txBody>
                    <a:bodyPr/>
                    <a:lstStyle/>
                    <a:p>
                      <a:pPr>
                        <a:buNone/>
                      </a:pPr>
                      <a:r>
                        <a:rPr lang="en-IN" sz="900">
                          <a:solidFill>
                            <a:schemeClr val="tx1"/>
                          </a:solidFill>
                          <a:effectLst/>
                        </a:rPr>
                        <a:t>MADAM-RAG</a:t>
                      </a:r>
                    </a:p>
                  </a:txBody>
                  <a:tcPr anchor="ctr"/>
                </a:tc>
                <a:tc>
                  <a:txBody>
                    <a:bodyPr/>
                    <a:lstStyle/>
                    <a:p>
                      <a:pPr>
                        <a:buNone/>
                      </a:pPr>
                      <a:r>
                        <a:rPr lang="en-IN" sz="900" dirty="0">
                          <a:solidFill>
                            <a:schemeClr val="tx1"/>
                          </a:solidFill>
                          <a:effectLst/>
                        </a:rPr>
                        <a:t>2024</a:t>
                      </a:r>
                    </a:p>
                  </a:txBody>
                  <a:tcPr anchor="ctr"/>
                </a:tc>
                <a:tc>
                  <a:txBody>
                    <a:bodyPr/>
                    <a:lstStyle/>
                    <a:p>
                      <a:pPr>
                        <a:buNone/>
                      </a:pPr>
                      <a:r>
                        <a:rPr lang="en-IN" sz="900" dirty="0">
                          <a:solidFill>
                            <a:schemeClr val="tx1"/>
                          </a:solidFill>
                          <a:effectLst/>
                        </a:rPr>
                        <a:t>Multi-agent debate between sources</a:t>
                      </a:r>
                    </a:p>
                  </a:txBody>
                  <a:tcPr anchor="ctr"/>
                </a:tc>
                <a:tc>
                  <a:txBody>
                    <a:bodyPr/>
                    <a:lstStyle/>
                    <a:p>
                      <a:pPr>
                        <a:buNone/>
                      </a:pPr>
                      <a:r>
                        <a:rPr lang="en-US" sz="900" dirty="0">
                          <a:solidFill>
                            <a:schemeClr val="tx1"/>
                          </a:solidFill>
                          <a:effectLst/>
                        </a:rPr>
                        <a:t>Majority vote only; no year per fact</a:t>
                      </a:r>
                    </a:p>
                  </a:txBody>
                  <a:tcPr anchor="ctr"/>
                </a:tc>
                <a:extLst>
                  <a:ext uri="{0D108BD9-81ED-4DB2-BD59-A6C34878D82A}">
                    <a16:rowId xmlns:a16="http://schemas.microsoft.com/office/drawing/2014/main" val="2269635540"/>
                  </a:ext>
                </a:extLst>
              </a:tr>
              <a:tr h="888766">
                <a:tc>
                  <a:txBody>
                    <a:bodyPr/>
                    <a:lstStyle/>
                    <a:p>
                      <a:pPr>
                        <a:buNone/>
                      </a:pPr>
                      <a:r>
                        <a:rPr lang="en-IN" sz="900">
                          <a:solidFill>
                            <a:schemeClr val="tx1"/>
                          </a:solidFill>
                          <a:effectLst/>
                        </a:rPr>
                        <a:t>KG-RAG v4 (arXiv:2511.10375)</a:t>
                      </a:r>
                    </a:p>
                  </a:txBody>
                  <a:tcPr anchor="ctr"/>
                </a:tc>
                <a:tc>
                  <a:txBody>
                    <a:bodyPr/>
                    <a:lstStyle/>
                    <a:p>
                      <a:pPr>
                        <a:buNone/>
                      </a:pPr>
                      <a:r>
                        <a:rPr lang="en-IN" sz="900" dirty="0">
                          <a:solidFill>
                            <a:schemeClr val="tx1"/>
                          </a:solidFill>
                          <a:effectLst/>
                        </a:rPr>
                        <a:t>2024</a:t>
                      </a:r>
                    </a:p>
                  </a:txBody>
                  <a:tcPr anchor="ctr"/>
                </a:tc>
                <a:tc>
                  <a:txBody>
                    <a:bodyPr/>
                    <a:lstStyle/>
                    <a:p>
                      <a:pPr>
                        <a:buNone/>
                      </a:pPr>
                      <a:r>
                        <a:rPr lang="en-US" sz="900" dirty="0">
                          <a:solidFill>
                            <a:schemeClr val="tx1"/>
                          </a:solidFill>
                          <a:effectLst/>
                        </a:rPr>
                        <a:t>Knowledge graph + entropy conflict detection</a:t>
                      </a:r>
                    </a:p>
                  </a:txBody>
                  <a:tcPr anchor="ctr"/>
                </a:tc>
                <a:tc>
                  <a:txBody>
                    <a:bodyPr/>
                    <a:lstStyle/>
                    <a:p>
                      <a:pPr>
                        <a:buNone/>
                      </a:pPr>
                      <a:r>
                        <a:rPr lang="en-US" sz="900" b="1" dirty="0">
                          <a:solidFill>
                            <a:schemeClr val="tx1"/>
                          </a:solidFill>
                          <a:effectLst/>
                        </a:rPr>
                        <a:t>No year field in schema; score gap = 0.028 </a:t>
                      </a:r>
                    </a:p>
                    <a:p>
                      <a:pPr>
                        <a:buNone/>
                      </a:pPr>
                      <a:r>
                        <a:rPr lang="en-US" sz="900" b="1" dirty="0">
                          <a:solidFill>
                            <a:schemeClr val="tx1"/>
                          </a:solidFill>
                          <a:effectLst/>
                        </a:rPr>
                        <a:t>conflict unresolved</a:t>
                      </a:r>
                      <a:endParaRPr lang="en-US" sz="900" dirty="0">
                        <a:solidFill>
                          <a:schemeClr val="tx1"/>
                        </a:solidFill>
                        <a:effectLst/>
                      </a:endParaRPr>
                    </a:p>
                  </a:txBody>
                  <a:tcPr anchor="ctr"/>
                </a:tc>
                <a:extLst>
                  <a:ext uri="{0D108BD9-81ED-4DB2-BD59-A6C34878D82A}">
                    <a16:rowId xmlns:a16="http://schemas.microsoft.com/office/drawing/2014/main" val="4270913154"/>
                  </a:ext>
                </a:extLst>
              </a:tr>
            </a:tbl>
          </a:graphicData>
        </a:graphic>
      </p:graphicFrame>
      <p:sp>
        <p:nvSpPr>
          <p:cNvPr id="18" name="TextBox 17">
            <a:extLst>
              <a:ext uri="{FF2B5EF4-FFF2-40B4-BE49-F238E27FC236}">
                <a16:creationId xmlns:a16="http://schemas.microsoft.com/office/drawing/2014/main" id="{16D3223C-2981-961E-1F12-6978249D7EF2}"/>
              </a:ext>
            </a:extLst>
          </p:cNvPr>
          <p:cNvSpPr txBox="1"/>
          <p:nvPr/>
        </p:nvSpPr>
        <p:spPr>
          <a:xfrm>
            <a:off x="1034716" y="718564"/>
            <a:ext cx="4572000" cy="307777"/>
          </a:xfrm>
          <a:prstGeom prst="rect">
            <a:avLst/>
          </a:prstGeom>
          <a:noFill/>
        </p:spPr>
        <p:txBody>
          <a:bodyPr wrap="square">
            <a:spAutoFit/>
          </a:bodyPr>
          <a:lstStyle/>
          <a:p>
            <a:r>
              <a:rPr lang="en-IN" b="1" i="0" dirty="0">
                <a:solidFill>
                  <a:schemeClr val="tx1"/>
                </a:solidFill>
                <a:effectLst/>
                <a:latin typeface="Segoe WPC"/>
              </a:rPr>
              <a:t>What Others Have Done</a:t>
            </a:r>
            <a:endParaRPr lang="en-IN" dirty="0">
              <a:solidFill>
                <a:schemeClr val="tx1"/>
              </a:solidFill>
            </a:endParaRPr>
          </a:p>
        </p:txBody>
      </p:sp>
    </p:spTree>
    <p:extLst>
      <p:ext uri="{BB962C8B-B14F-4D97-AF65-F5344CB8AC3E}">
        <p14:creationId xmlns:p14="http://schemas.microsoft.com/office/powerpoint/2010/main" val="2390867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1627542" y="58379"/>
            <a:ext cx="6379177" cy="659150"/>
          </a:xfrm>
          <a:prstGeom prst="rect">
            <a:avLst/>
          </a:prstGeom>
        </p:spPr>
        <p:txBody>
          <a:bodyPr spcFirstLastPara="1" wrap="square" lIns="91425" tIns="91425" rIns="91425" bIns="91425" anchor="b" anchorCtr="0">
            <a:noAutofit/>
          </a:bodyPr>
          <a:lstStyle/>
          <a:p>
            <a:pPr lvl="0"/>
            <a:r>
              <a:rPr lang="en-IN" sz="3200" dirty="0"/>
              <a:t>Proposed System / Architecture</a:t>
            </a:r>
            <a:endParaRPr sz="32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1ACACEF-3F80-F1EC-3A71-EFD6FCAFF0F5}"/>
                  </a:ext>
                </a:extLst>
              </p14:cNvPr>
              <p14:cNvContentPartPr/>
              <p14:nvPr/>
            </p14:nvContentPartPr>
            <p14:xfrm>
              <a:off x="96180" y="2891220"/>
              <a:ext cx="1225080" cy="1708560"/>
            </p14:xfrm>
          </p:contentPart>
        </mc:Choice>
        <mc:Fallback xmlns="">
          <p:pic>
            <p:nvPicPr>
              <p:cNvPr id="2" name="Ink 1">
                <a:extLst>
                  <a:ext uri="{FF2B5EF4-FFF2-40B4-BE49-F238E27FC236}">
                    <a16:creationId xmlns:a16="http://schemas.microsoft.com/office/drawing/2014/main" id="{E1ACACEF-3F80-F1EC-3A71-EFD6FCAFF0F5}"/>
                  </a:ext>
                </a:extLst>
              </p:cNvPr>
              <p:cNvPicPr/>
              <p:nvPr/>
            </p:nvPicPr>
            <p:blipFill>
              <a:blip r:embed="rId4"/>
              <a:stretch>
                <a:fillRect/>
              </a:stretch>
            </p:blipFill>
            <p:spPr>
              <a:xfrm>
                <a:off x="90060" y="2885100"/>
                <a:ext cx="1237320" cy="172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64753C1-FE52-7125-D319-75CFCF1CB533}"/>
                  </a:ext>
                </a:extLst>
              </p14:cNvPr>
              <p14:cNvContentPartPr/>
              <p14:nvPr/>
            </p14:nvContentPartPr>
            <p14:xfrm>
              <a:off x="684780" y="2211900"/>
              <a:ext cx="887760" cy="2760120"/>
            </p14:xfrm>
          </p:contentPart>
        </mc:Choice>
        <mc:Fallback xmlns="">
          <p:pic>
            <p:nvPicPr>
              <p:cNvPr id="3" name="Ink 2">
                <a:extLst>
                  <a:ext uri="{FF2B5EF4-FFF2-40B4-BE49-F238E27FC236}">
                    <a16:creationId xmlns:a16="http://schemas.microsoft.com/office/drawing/2014/main" id="{064753C1-FE52-7125-D319-75CFCF1CB533}"/>
                  </a:ext>
                </a:extLst>
              </p:cNvPr>
              <p:cNvPicPr/>
              <p:nvPr/>
            </p:nvPicPr>
            <p:blipFill>
              <a:blip r:embed="rId6"/>
              <a:stretch>
                <a:fillRect/>
              </a:stretch>
            </p:blipFill>
            <p:spPr>
              <a:xfrm>
                <a:off x="678660" y="2205780"/>
                <a:ext cx="900000" cy="2772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C2DFAC5-B4F9-7D02-F0A4-2020924365DB}"/>
                  </a:ext>
                </a:extLst>
              </p14:cNvPr>
              <p14:cNvContentPartPr/>
              <p14:nvPr/>
            </p14:nvContentPartPr>
            <p14:xfrm>
              <a:off x="2179140" y="457260"/>
              <a:ext cx="360" cy="360"/>
            </p14:xfrm>
          </p:contentPart>
        </mc:Choice>
        <mc:Fallback xmlns="">
          <p:pic>
            <p:nvPicPr>
              <p:cNvPr id="4" name="Ink 3">
                <a:extLst>
                  <a:ext uri="{FF2B5EF4-FFF2-40B4-BE49-F238E27FC236}">
                    <a16:creationId xmlns:a16="http://schemas.microsoft.com/office/drawing/2014/main" id="{BC2DFAC5-B4F9-7D02-F0A4-2020924365DB}"/>
                  </a:ext>
                </a:extLst>
              </p:cNvPr>
              <p:cNvPicPr/>
              <p:nvPr/>
            </p:nvPicPr>
            <p:blipFill>
              <a:blip r:embed="rId8"/>
              <a:stretch>
                <a:fillRect/>
              </a:stretch>
            </p:blipFill>
            <p:spPr>
              <a:xfrm>
                <a:off x="2173020" y="45114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181DF4A9-EB22-AB23-C06B-55C710764CF9}"/>
                  </a:ext>
                </a:extLst>
              </p14:cNvPr>
              <p14:cNvContentPartPr/>
              <p14:nvPr/>
            </p14:nvContentPartPr>
            <p14:xfrm>
              <a:off x="3002100" y="1104900"/>
              <a:ext cx="360" cy="360"/>
            </p14:xfrm>
          </p:contentPart>
        </mc:Choice>
        <mc:Fallback xmlns="">
          <p:pic>
            <p:nvPicPr>
              <p:cNvPr id="6" name="Ink 5">
                <a:extLst>
                  <a:ext uri="{FF2B5EF4-FFF2-40B4-BE49-F238E27FC236}">
                    <a16:creationId xmlns:a16="http://schemas.microsoft.com/office/drawing/2014/main" id="{181DF4A9-EB22-AB23-C06B-55C710764CF9}"/>
                  </a:ext>
                </a:extLst>
              </p:cNvPr>
              <p:cNvPicPr/>
              <p:nvPr/>
            </p:nvPicPr>
            <p:blipFill>
              <a:blip r:embed="rId8"/>
              <a:stretch>
                <a:fillRect/>
              </a:stretch>
            </p:blipFill>
            <p:spPr>
              <a:xfrm>
                <a:off x="2995980" y="1098780"/>
                <a:ext cx="12600" cy="12600"/>
              </a:xfrm>
              <a:prstGeom prst="rect">
                <a:avLst/>
              </a:prstGeom>
            </p:spPr>
          </p:pic>
        </mc:Fallback>
      </mc:AlternateContent>
      <p:sp>
        <p:nvSpPr>
          <p:cNvPr id="7" name="TextBox 6">
            <a:extLst>
              <a:ext uri="{FF2B5EF4-FFF2-40B4-BE49-F238E27FC236}">
                <a16:creationId xmlns:a16="http://schemas.microsoft.com/office/drawing/2014/main" id="{5971B13F-DEF8-A901-FE4F-9490D72DF50C}"/>
              </a:ext>
            </a:extLst>
          </p:cNvPr>
          <p:cNvSpPr txBox="1"/>
          <p:nvPr/>
        </p:nvSpPr>
        <p:spPr>
          <a:xfrm>
            <a:off x="630798" y="4582512"/>
            <a:ext cx="7882403" cy="307777"/>
          </a:xfrm>
          <a:prstGeom prst="rect">
            <a:avLst/>
          </a:prstGeom>
          <a:noFill/>
        </p:spPr>
        <p:txBody>
          <a:bodyPr wrap="square">
            <a:spAutoFit/>
          </a:bodyPr>
          <a:lstStyle/>
          <a:p>
            <a:r>
              <a:rPr lang="en-IN" b="0" i="0" dirty="0">
                <a:solidFill>
                  <a:srgbClr val="CCCCCC"/>
                </a:solidFill>
                <a:effectLst/>
                <a:latin typeface="Segoe WPC"/>
              </a:rPr>
              <a:t>Stacks Used – Python 3.14,</a:t>
            </a:r>
            <a:r>
              <a:rPr lang="en-IN" dirty="0">
                <a:solidFill>
                  <a:srgbClr val="CCCCCC"/>
                </a:solidFill>
                <a:latin typeface="Segoe WPC"/>
              </a:rPr>
              <a:t> </a:t>
            </a:r>
            <a:r>
              <a:rPr lang="en-IN" b="0" i="0" dirty="0" err="1">
                <a:solidFill>
                  <a:srgbClr val="CCCCCC"/>
                </a:solidFill>
                <a:effectLst/>
                <a:latin typeface="Segoe WPC"/>
              </a:rPr>
              <a:t>LangChain</a:t>
            </a:r>
            <a:r>
              <a:rPr lang="en-IN" dirty="0">
                <a:solidFill>
                  <a:srgbClr val="CCCCCC"/>
                </a:solidFill>
                <a:latin typeface="Segoe WPC"/>
              </a:rPr>
              <a:t>, </a:t>
            </a:r>
            <a:r>
              <a:rPr lang="en-IN" b="0" i="0" dirty="0">
                <a:solidFill>
                  <a:srgbClr val="CCCCCC"/>
                </a:solidFill>
                <a:effectLst/>
                <a:latin typeface="Segoe WPC"/>
              </a:rPr>
              <a:t>Neo4j</a:t>
            </a:r>
            <a:r>
              <a:rPr lang="en-IN" dirty="0">
                <a:solidFill>
                  <a:srgbClr val="CCCCCC"/>
                </a:solidFill>
                <a:latin typeface="Segoe WPC"/>
              </a:rPr>
              <a:t>, </a:t>
            </a:r>
            <a:r>
              <a:rPr lang="en-IN" b="0" i="0" dirty="0" err="1">
                <a:solidFill>
                  <a:srgbClr val="CCCCCC"/>
                </a:solidFill>
                <a:effectLst/>
                <a:latin typeface="Segoe WPC"/>
              </a:rPr>
              <a:t>Ollama</a:t>
            </a:r>
            <a:r>
              <a:rPr lang="en-IN" b="0" i="0" dirty="0">
                <a:solidFill>
                  <a:srgbClr val="CCCCCC"/>
                </a:solidFill>
                <a:effectLst/>
                <a:latin typeface="Segoe WPC"/>
              </a:rPr>
              <a:t>(Qwen2.5-7B)</a:t>
            </a:r>
            <a:r>
              <a:rPr lang="en-IN" dirty="0">
                <a:solidFill>
                  <a:srgbClr val="CCCCCC"/>
                </a:solidFill>
                <a:latin typeface="Segoe WPC"/>
              </a:rPr>
              <a:t>, </a:t>
            </a:r>
            <a:r>
              <a:rPr lang="en-IN" b="0" i="0" dirty="0">
                <a:solidFill>
                  <a:srgbClr val="CCCCCC"/>
                </a:solidFill>
                <a:effectLst/>
                <a:latin typeface="Segoe WPC"/>
              </a:rPr>
              <a:t>Sentence-BERT</a:t>
            </a:r>
            <a:r>
              <a:rPr lang="en-IN" dirty="0">
                <a:solidFill>
                  <a:srgbClr val="CCCCCC"/>
                </a:solidFill>
                <a:latin typeface="Segoe WPC"/>
              </a:rPr>
              <a:t>, </a:t>
            </a:r>
            <a:r>
              <a:rPr lang="en-IN" b="0" i="0" dirty="0">
                <a:solidFill>
                  <a:srgbClr val="CCCCCC"/>
                </a:solidFill>
                <a:effectLst/>
                <a:latin typeface="Segoe WPC"/>
              </a:rPr>
              <a:t>BM25</a:t>
            </a:r>
            <a:r>
              <a:rPr lang="en-IN" dirty="0">
                <a:solidFill>
                  <a:srgbClr val="CCCCCC"/>
                </a:solidFill>
                <a:latin typeface="Segoe WPC"/>
              </a:rPr>
              <a:t>,</a:t>
            </a:r>
            <a:r>
              <a:rPr lang="en-IN" b="0" i="0" dirty="0">
                <a:solidFill>
                  <a:srgbClr val="CCCCCC"/>
                </a:solidFill>
                <a:effectLst/>
                <a:latin typeface="Segoe WPC"/>
              </a:rPr>
              <a:t>Flask</a:t>
            </a:r>
            <a:endParaRPr lang="en-IN" dirty="0"/>
          </a:p>
        </p:txBody>
      </p:sp>
      <p:pic>
        <p:nvPicPr>
          <p:cNvPr id="8" name="Picture 7">
            <a:extLst>
              <a:ext uri="{FF2B5EF4-FFF2-40B4-BE49-F238E27FC236}">
                <a16:creationId xmlns:a16="http://schemas.microsoft.com/office/drawing/2014/main" id="{7D584D5F-737A-97F8-C9D5-576A6E3965CA}"/>
              </a:ext>
            </a:extLst>
          </p:cNvPr>
          <p:cNvPicPr>
            <a:picLocks noChangeAspect="1"/>
          </p:cNvPicPr>
          <p:nvPr/>
        </p:nvPicPr>
        <p:blipFill>
          <a:blip r:embed="rId10"/>
          <a:srcRect l="2143" t="4141" r="1667" b="4168"/>
          <a:stretch>
            <a:fillRect/>
          </a:stretch>
        </p:blipFill>
        <p:spPr>
          <a:xfrm>
            <a:off x="412384" y="799260"/>
            <a:ext cx="8319232" cy="35326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5CFBC498-267A-BFAE-198B-E3EE54FBA630}"/>
            </a:ext>
          </a:extLst>
        </p:cNvPr>
        <p:cNvGrpSpPr/>
        <p:nvPr/>
      </p:nvGrpSpPr>
      <p:grpSpPr>
        <a:xfrm>
          <a:off x="0" y="0"/>
          <a:ext cx="0" cy="0"/>
          <a:chOff x="0" y="0"/>
          <a:chExt cx="0" cy="0"/>
        </a:xfrm>
      </p:grpSpPr>
      <p:sp>
        <p:nvSpPr>
          <p:cNvPr id="91" name="Google Shape;91;p18"/>
          <p:cNvSpPr txBox="1">
            <a:spLocks noGrp="1"/>
          </p:cNvSpPr>
          <p:nvPr>
            <p:ph type="title"/>
          </p:nvPr>
        </p:nvSpPr>
        <p:spPr>
          <a:xfrm>
            <a:off x="2834545" y="188681"/>
            <a:ext cx="3474909" cy="444265"/>
          </a:xfrm>
          <a:prstGeom prst="rect">
            <a:avLst/>
          </a:prstGeom>
        </p:spPr>
        <p:txBody>
          <a:bodyPr spcFirstLastPara="1" wrap="square" lIns="91425" tIns="91425" rIns="91425" bIns="91425" anchor="b" anchorCtr="0">
            <a:noAutofit/>
          </a:bodyPr>
          <a:lstStyle/>
          <a:p>
            <a:r>
              <a:rPr lang="en-IN" sz="2800" b="1" dirty="0"/>
              <a:t> Result &amp; Analysis</a:t>
            </a:r>
          </a:p>
        </p:txBody>
      </p:sp>
      <p:sp>
        <p:nvSpPr>
          <p:cNvPr id="3" name="TextBox 2">
            <a:extLst>
              <a:ext uri="{FF2B5EF4-FFF2-40B4-BE49-F238E27FC236}">
                <a16:creationId xmlns:a16="http://schemas.microsoft.com/office/drawing/2014/main" id="{2C332956-E583-72D2-6C7E-F64F9C68E063}"/>
              </a:ext>
            </a:extLst>
          </p:cNvPr>
          <p:cNvSpPr txBox="1"/>
          <p:nvPr/>
        </p:nvSpPr>
        <p:spPr>
          <a:xfrm>
            <a:off x="4857321" y="1211603"/>
            <a:ext cx="3557909" cy="1384995"/>
          </a:xfrm>
          <a:prstGeom prst="rect">
            <a:avLst/>
          </a:prstGeom>
          <a:noFill/>
        </p:spPr>
        <p:txBody>
          <a:bodyPr wrap="square">
            <a:spAutoFit/>
          </a:bodyPr>
          <a:lstStyle/>
          <a:p>
            <a:r>
              <a:rPr lang="en-US" sz="1400" i="0" dirty="0">
                <a:solidFill>
                  <a:schemeClr val="tx1"/>
                </a:solidFill>
                <a:effectLst/>
                <a:latin typeface="Segoe WPC"/>
              </a:rPr>
              <a:t>14.5 percentage points over </a:t>
            </a:r>
            <a:r>
              <a:rPr lang="en-US" sz="1400" i="0" dirty="0" err="1">
                <a:solidFill>
                  <a:schemeClr val="tx1"/>
                </a:solidFill>
                <a:effectLst/>
                <a:latin typeface="Segoe WPC"/>
              </a:rPr>
              <a:t>LangChain</a:t>
            </a:r>
            <a:r>
              <a:rPr lang="en-US" sz="1400" i="0" dirty="0">
                <a:solidFill>
                  <a:schemeClr val="tx1"/>
                </a:solidFill>
                <a:effectLst/>
                <a:latin typeface="Segoe WPC"/>
              </a:rPr>
              <a:t> on hallucination rejection. </a:t>
            </a:r>
            <a:r>
              <a:rPr lang="en-US" sz="1400" i="1" dirty="0">
                <a:solidFill>
                  <a:schemeClr val="tx1"/>
                </a:solidFill>
                <a:effectLst/>
                <a:latin typeface="Segoe WPC"/>
              </a:rPr>
              <a:t>(</a:t>
            </a:r>
            <a:r>
              <a:rPr lang="en-US" sz="1400" i="1" dirty="0" err="1">
                <a:solidFill>
                  <a:schemeClr val="tx1"/>
                </a:solidFill>
                <a:effectLst/>
                <a:latin typeface="Segoe WPC"/>
              </a:rPr>
              <a:t>LangChain's</a:t>
            </a:r>
            <a:r>
              <a:rPr lang="en-US" sz="1400" i="1" dirty="0">
                <a:solidFill>
                  <a:schemeClr val="tx1"/>
                </a:solidFill>
                <a:effectLst/>
                <a:latin typeface="Segoe WPC"/>
              </a:rPr>
              <a:t> high EM is a known paradox  it copies context verbatim and matches gold substrings, but still answers incorrectly. HRR is the correct metric.)</a:t>
            </a:r>
            <a:endParaRPr lang="en-IN" sz="1400" dirty="0">
              <a:solidFill>
                <a:schemeClr val="tx1"/>
              </a:solidFill>
            </a:endParaRPr>
          </a:p>
        </p:txBody>
      </p:sp>
      <p:sp>
        <p:nvSpPr>
          <p:cNvPr id="6" name="TextBox 5">
            <a:extLst>
              <a:ext uri="{FF2B5EF4-FFF2-40B4-BE49-F238E27FC236}">
                <a16:creationId xmlns:a16="http://schemas.microsoft.com/office/drawing/2014/main" id="{8A5269CB-F30D-53DA-E8F2-1C5F5E80F101}"/>
              </a:ext>
            </a:extLst>
          </p:cNvPr>
          <p:cNvSpPr txBox="1"/>
          <p:nvPr/>
        </p:nvSpPr>
        <p:spPr>
          <a:xfrm>
            <a:off x="4857321" y="3422006"/>
            <a:ext cx="3729789" cy="738664"/>
          </a:xfrm>
          <a:prstGeom prst="rect">
            <a:avLst/>
          </a:prstGeom>
          <a:noFill/>
        </p:spPr>
        <p:txBody>
          <a:bodyPr wrap="square">
            <a:spAutoFit/>
          </a:bodyPr>
          <a:lstStyle/>
          <a:p>
            <a:r>
              <a:rPr lang="en-US" i="0" dirty="0">
                <a:solidFill>
                  <a:schemeClr val="tx1"/>
                </a:solidFill>
                <a:effectLst/>
                <a:latin typeface="Segoe WPC"/>
              </a:rPr>
              <a:t>CDR doubles from 25% to 50% </a:t>
            </a:r>
          </a:p>
          <a:p>
            <a:r>
              <a:rPr lang="en-US" i="0" dirty="0">
                <a:solidFill>
                  <a:schemeClr val="tx1"/>
                </a:solidFill>
                <a:effectLst/>
                <a:latin typeface="Segoe WPC"/>
              </a:rPr>
              <a:t>the primary thesis result. Temporal accuracy improves 2.5× over </a:t>
            </a:r>
            <a:r>
              <a:rPr lang="en-US" i="0" dirty="0" err="1">
                <a:solidFill>
                  <a:schemeClr val="tx1"/>
                </a:solidFill>
                <a:effectLst/>
                <a:latin typeface="Segoe WPC"/>
              </a:rPr>
              <a:t>LangChain</a:t>
            </a:r>
            <a:r>
              <a:rPr lang="en-US" i="0" dirty="0">
                <a:solidFill>
                  <a:schemeClr val="tx1"/>
                </a:solidFill>
                <a:effectLst/>
                <a:latin typeface="Segoe WPC"/>
              </a:rPr>
              <a:t>.</a:t>
            </a:r>
            <a:endParaRPr lang="en-IN" dirty="0">
              <a:solidFill>
                <a:schemeClr val="tx1"/>
              </a:solidFill>
            </a:endParaRPr>
          </a:p>
        </p:txBody>
      </p:sp>
      <p:graphicFrame>
        <p:nvGraphicFramePr>
          <p:cNvPr id="8" name="Table 7">
            <a:extLst>
              <a:ext uri="{FF2B5EF4-FFF2-40B4-BE49-F238E27FC236}">
                <a16:creationId xmlns:a16="http://schemas.microsoft.com/office/drawing/2014/main" id="{353CD50D-5BFF-285D-9462-C081AC1E3DF9}"/>
              </a:ext>
            </a:extLst>
          </p:cNvPr>
          <p:cNvGraphicFramePr>
            <a:graphicFrameLocks noGrp="1"/>
          </p:cNvGraphicFramePr>
          <p:nvPr>
            <p:extLst>
              <p:ext uri="{D42A27DB-BD31-4B8C-83A1-F6EECF244321}">
                <p14:modId xmlns:p14="http://schemas.microsoft.com/office/powerpoint/2010/main" val="527796321"/>
              </p:ext>
            </p:extLst>
          </p:nvPr>
        </p:nvGraphicFramePr>
        <p:xfrm>
          <a:off x="507090" y="1186755"/>
          <a:ext cx="3700524" cy="1325880"/>
        </p:xfrm>
        <a:graphic>
          <a:graphicData uri="http://schemas.openxmlformats.org/drawingml/2006/table">
            <a:tbl>
              <a:tblPr>
                <a:tableStyleId>{D7AC3CCA-C797-4891-BE02-D94E43425B78}</a:tableStyleId>
              </a:tblPr>
              <a:tblGrid>
                <a:gridCol w="1233508">
                  <a:extLst>
                    <a:ext uri="{9D8B030D-6E8A-4147-A177-3AD203B41FA5}">
                      <a16:colId xmlns:a16="http://schemas.microsoft.com/office/drawing/2014/main" val="2336835558"/>
                    </a:ext>
                  </a:extLst>
                </a:gridCol>
                <a:gridCol w="1233508">
                  <a:extLst>
                    <a:ext uri="{9D8B030D-6E8A-4147-A177-3AD203B41FA5}">
                      <a16:colId xmlns:a16="http://schemas.microsoft.com/office/drawing/2014/main" val="2427660732"/>
                    </a:ext>
                  </a:extLst>
                </a:gridCol>
                <a:gridCol w="1233508">
                  <a:extLst>
                    <a:ext uri="{9D8B030D-6E8A-4147-A177-3AD203B41FA5}">
                      <a16:colId xmlns:a16="http://schemas.microsoft.com/office/drawing/2014/main" val="3082539001"/>
                    </a:ext>
                  </a:extLst>
                </a:gridCol>
              </a:tblGrid>
              <a:tr h="208580">
                <a:tc>
                  <a:txBody>
                    <a:bodyPr/>
                    <a:lstStyle/>
                    <a:p>
                      <a:pPr algn="l">
                        <a:buNone/>
                      </a:pPr>
                      <a:r>
                        <a:rPr lang="en-IN" sz="900" b="0">
                          <a:solidFill>
                            <a:schemeClr val="tx1"/>
                          </a:solidFill>
                          <a:effectLst/>
                        </a:rPr>
                        <a:t>System</a:t>
                      </a:r>
                    </a:p>
                  </a:txBody>
                  <a:tcPr anchor="ctr"/>
                </a:tc>
                <a:tc>
                  <a:txBody>
                    <a:bodyPr/>
                    <a:lstStyle/>
                    <a:p>
                      <a:pPr algn="l">
                        <a:buNone/>
                      </a:pPr>
                      <a:r>
                        <a:rPr lang="en-IN" sz="900" b="0" dirty="0">
                          <a:solidFill>
                            <a:schemeClr val="tx1"/>
                          </a:solidFill>
                          <a:effectLst/>
                        </a:rPr>
                        <a:t>HRR%</a:t>
                      </a:r>
                    </a:p>
                  </a:txBody>
                  <a:tcPr anchor="ctr"/>
                </a:tc>
                <a:tc>
                  <a:txBody>
                    <a:bodyPr/>
                    <a:lstStyle/>
                    <a:p>
                      <a:pPr algn="l">
                        <a:buNone/>
                      </a:pPr>
                      <a:r>
                        <a:rPr lang="en-IN" sz="900" b="0">
                          <a:solidFill>
                            <a:schemeClr val="tx1"/>
                          </a:solidFill>
                          <a:effectLst/>
                        </a:rPr>
                        <a:t>EM%</a:t>
                      </a:r>
                    </a:p>
                  </a:txBody>
                  <a:tcPr anchor="ctr"/>
                </a:tc>
                <a:extLst>
                  <a:ext uri="{0D108BD9-81ED-4DB2-BD59-A6C34878D82A}">
                    <a16:rowId xmlns:a16="http://schemas.microsoft.com/office/drawing/2014/main" val="2740967408"/>
                  </a:ext>
                </a:extLst>
              </a:tr>
              <a:tr h="333728">
                <a:tc>
                  <a:txBody>
                    <a:bodyPr/>
                    <a:lstStyle/>
                    <a:p>
                      <a:pPr>
                        <a:buNone/>
                      </a:pPr>
                      <a:r>
                        <a:rPr lang="en-IN" sz="900" dirty="0" err="1">
                          <a:solidFill>
                            <a:schemeClr val="tx1"/>
                          </a:solidFill>
                          <a:effectLst/>
                        </a:rPr>
                        <a:t>LangChain</a:t>
                      </a:r>
                      <a:r>
                        <a:rPr lang="en-IN" sz="900" dirty="0">
                          <a:solidFill>
                            <a:schemeClr val="tx1"/>
                          </a:solidFill>
                          <a:effectLst/>
                        </a:rPr>
                        <a:t> Standard RAG</a:t>
                      </a:r>
                    </a:p>
                  </a:txBody>
                  <a:tcPr anchor="ctr"/>
                </a:tc>
                <a:tc>
                  <a:txBody>
                    <a:bodyPr/>
                    <a:lstStyle/>
                    <a:p>
                      <a:pPr>
                        <a:buNone/>
                      </a:pPr>
                      <a:r>
                        <a:rPr lang="en-IN" sz="900" dirty="0">
                          <a:solidFill>
                            <a:schemeClr val="tx1"/>
                          </a:solidFill>
                          <a:effectLst/>
                        </a:rPr>
                        <a:t>77.5</a:t>
                      </a:r>
                    </a:p>
                  </a:txBody>
                  <a:tcPr anchor="ctr"/>
                </a:tc>
                <a:tc>
                  <a:txBody>
                    <a:bodyPr/>
                    <a:lstStyle/>
                    <a:p>
                      <a:pPr>
                        <a:buNone/>
                      </a:pPr>
                      <a:r>
                        <a:rPr lang="en-IN" sz="900" dirty="0">
                          <a:solidFill>
                            <a:schemeClr val="tx1"/>
                          </a:solidFill>
                          <a:effectLst/>
                        </a:rPr>
                        <a:t>85.5</a:t>
                      </a:r>
                    </a:p>
                  </a:txBody>
                  <a:tcPr anchor="ctr"/>
                </a:tc>
                <a:extLst>
                  <a:ext uri="{0D108BD9-81ED-4DB2-BD59-A6C34878D82A}">
                    <a16:rowId xmlns:a16="http://schemas.microsoft.com/office/drawing/2014/main" val="2850935411"/>
                  </a:ext>
                </a:extLst>
              </a:tr>
              <a:tr h="290235">
                <a:tc>
                  <a:txBody>
                    <a:bodyPr/>
                    <a:lstStyle/>
                    <a:p>
                      <a:pPr>
                        <a:buNone/>
                      </a:pPr>
                      <a:r>
                        <a:rPr lang="en-IN" sz="900" dirty="0">
                          <a:solidFill>
                            <a:schemeClr val="tx1"/>
                          </a:solidFill>
                          <a:effectLst/>
                        </a:rPr>
                        <a:t>KG-RAG v4 (Simulated)</a:t>
                      </a:r>
                    </a:p>
                  </a:txBody>
                  <a:tcPr anchor="ctr"/>
                </a:tc>
                <a:tc>
                  <a:txBody>
                    <a:bodyPr/>
                    <a:lstStyle/>
                    <a:p>
                      <a:pPr>
                        <a:buNone/>
                      </a:pPr>
                      <a:r>
                        <a:rPr lang="en-IN" sz="900" dirty="0">
                          <a:solidFill>
                            <a:schemeClr val="tx1"/>
                          </a:solidFill>
                          <a:effectLst/>
                        </a:rPr>
                        <a:t>91.0</a:t>
                      </a:r>
                    </a:p>
                  </a:txBody>
                  <a:tcPr anchor="ctr"/>
                </a:tc>
                <a:tc>
                  <a:txBody>
                    <a:bodyPr/>
                    <a:lstStyle/>
                    <a:p>
                      <a:pPr>
                        <a:buNone/>
                      </a:pPr>
                      <a:r>
                        <a:rPr lang="en-IN" sz="900" dirty="0">
                          <a:solidFill>
                            <a:schemeClr val="tx1"/>
                          </a:solidFill>
                          <a:effectLst/>
                        </a:rPr>
                        <a:t>15.5</a:t>
                      </a:r>
                    </a:p>
                  </a:txBody>
                  <a:tcPr anchor="ctr"/>
                </a:tc>
                <a:extLst>
                  <a:ext uri="{0D108BD9-81ED-4DB2-BD59-A6C34878D82A}">
                    <a16:rowId xmlns:a16="http://schemas.microsoft.com/office/drawing/2014/main" val="2137572293"/>
                  </a:ext>
                </a:extLst>
              </a:tr>
              <a:tr h="290235">
                <a:tc>
                  <a:txBody>
                    <a:bodyPr/>
                    <a:lstStyle/>
                    <a:p>
                      <a:pPr>
                        <a:buNone/>
                      </a:pPr>
                      <a:r>
                        <a:rPr lang="en-IN" sz="900" b="1">
                          <a:solidFill>
                            <a:schemeClr val="tx1"/>
                          </a:solidFill>
                          <a:effectLst/>
                        </a:rPr>
                        <a:t>TruthfulRAG v5 (Ours)</a:t>
                      </a:r>
                      <a:endParaRPr lang="en-IN" sz="900">
                        <a:solidFill>
                          <a:schemeClr val="tx1"/>
                        </a:solidFill>
                        <a:effectLst/>
                      </a:endParaRPr>
                    </a:p>
                  </a:txBody>
                  <a:tcPr anchor="ctr"/>
                </a:tc>
                <a:tc>
                  <a:txBody>
                    <a:bodyPr/>
                    <a:lstStyle/>
                    <a:p>
                      <a:pPr>
                        <a:buNone/>
                      </a:pPr>
                      <a:r>
                        <a:rPr lang="en-IN" sz="900" b="1" dirty="0">
                          <a:solidFill>
                            <a:schemeClr val="tx1"/>
                          </a:solidFill>
                          <a:effectLst/>
                        </a:rPr>
                        <a:t>92.0</a:t>
                      </a:r>
                      <a:endParaRPr lang="en-IN" sz="900" dirty="0">
                        <a:solidFill>
                          <a:schemeClr val="tx1"/>
                        </a:solidFill>
                        <a:effectLst/>
                      </a:endParaRPr>
                    </a:p>
                  </a:txBody>
                  <a:tcPr anchor="ctr"/>
                </a:tc>
                <a:tc>
                  <a:txBody>
                    <a:bodyPr/>
                    <a:lstStyle/>
                    <a:p>
                      <a:pPr>
                        <a:buNone/>
                      </a:pPr>
                      <a:r>
                        <a:rPr lang="en-IN" sz="900" dirty="0">
                          <a:solidFill>
                            <a:schemeClr val="tx1"/>
                          </a:solidFill>
                          <a:effectLst/>
                        </a:rPr>
                        <a:t>14.5</a:t>
                      </a:r>
                    </a:p>
                  </a:txBody>
                  <a:tcPr anchor="ctr"/>
                </a:tc>
                <a:extLst>
                  <a:ext uri="{0D108BD9-81ED-4DB2-BD59-A6C34878D82A}">
                    <a16:rowId xmlns:a16="http://schemas.microsoft.com/office/drawing/2014/main" val="245950562"/>
                  </a:ext>
                </a:extLst>
              </a:tr>
            </a:tbl>
          </a:graphicData>
        </a:graphic>
      </p:graphicFrame>
      <p:graphicFrame>
        <p:nvGraphicFramePr>
          <p:cNvPr id="10" name="Table 9">
            <a:extLst>
              <a:ext uri="{FF2B5EF4-FFF2-40B4-BE49-F238E27FC236}">
                <a16:creationId xmlns:a16="http://schemas.microsoft.com/office/drawing/2014/main" id="{B6C5BFF5-C46E-1928-68C0-13E034D6768B}"/>
              </a:ext>
            </a:extLst>
          </p:cNvPr>
          <p:cNvGraphicFramePr>
            <a:graphicFrameLocks noGrp="1"/>
          </p:cNvGraphicFramePr>
          <p:nvPr>
            <p:extLst>
              <p:ext uri="{D42A27DB-BD31-4B8C-83A1-F6EECF244321}">
                <p14:modId xmlns:p14="http://schemas.microsoft.com/office/powerpoint/2010/main" val="3199489219"/>
              </p:ext>
            </p:extLst>
          </p:nvPr>
        </p:nvGraphicFramePr>
        <p:xfrm>
          <a:off x="297394" y="3027139"/>
          <a:ext cx="4384608" cy="1602372"/>
        </p:xfrm>
        <a:graphic>
          <a:graphicData uri="http://schemas.openxmlformats.org/drawingml/2006/table">
            <a:tbl>
              <a:tblPr>
                <a:tableStyleId>{3C2FFA5D-87B4-456A-9821-1D502468CF0F}</a:tableStyleId>
              </a:tblPr>
              <a:tblGrid>
                <a:gridCol w="1096152">
                  <a:extLst>
                    <a:ext uri="{9D8B030D-6E8A-4147-A177-3AD203B41FA5}">
                      <a16:colId xmlns:a16="http://schemas.microsoft.com/office/drawing/2014/main" val="1853479401"/>
                    </a:ext>
                  </a:extLst>
                </a:gridCol>
                <a:gridCol w="1096152">
                  <a:extLst>
                    <a:ext uri="{9D8B030D-6E8A-4147-A177-3AD203B41FA5}">
                      <a16:colId xmlns:a16="http://schemas.microsoft.com/office/drawing/2014/main" val="3821022774"/>
                    </a:ext>
                  </a:extLst>
                </a:gridCol>
                <a:gridCol w="1096152">
                  <a:extLst>
                    <a:ext uri="{9D8B030D-6E8A-4147-A177-3AD203B41FA5}">
                      <a16:colId xmlns:a16="http://schemas.microsoft.com/office/drawing/2014/main" val="3027245359"/>
                    </a:ext>
                  </a:extLst>
                </a:gridCol>
                <a:gridCol w="1096152">
                  <a:extLst>
                    <a:ext uri="{9D8B030D-6E8A-4147-A177-3AD203B41FA5}">
                      <a16:colId xmlns:a16="http://schemas.microsoft.com/office/drawing/2014/main" val="2384786161"/>
                    </a:ext>
                  </a:extLst>
                </a:gridCol>
              </a:tblGrid>
              <a:tr h="310604">
                <a:tc>
                  <a:txBody>
                    <a:bodyPr/>
                    <a:lstStyle/>
                    <a:p>
                      <a:pPr algn="l">
                        <a:buNone/>
                      </a:pPr>
                      <a:r>
                        <a:rPr lang="en-IN" sz="800" b="0">
                          <a:solidFill>
                            <a:schemeClr val="tx1"/>
                          </a:solidFill>
                          <a:effectLst/>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0">
                          <a:solidFill>
                            <a:schemeClr val="tx1"/>
                          </a:solidFill>
                          <a:effectLst/>
                        </a:rPr>
                        <a:t>LangChain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0" dirty="0">
                          <a:solidFill>
                            <a:schemeClr val="tx1"/>
                          </a:solidFill>
                          <a:effectLst/>
                        </a:rPr>
                        <a:t>KG-RAG v4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1">
                          <a:solidFill>
                            <a:schemeClr val="tx1"/>
                          </a:solidFill>
                          <a:effectLst/>
                        </a:rPr>
                        <a:t>TruthfulRAG v5</a:t>
                      </a:r>
                      <a:endParaRPr lang="en-IN" sz="800" b="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927598"/>
                  </a:ext>
                </a:extLst>
              </a:tr>
              <a:tr h="310604">
                <a:tc>
                  <a:txBody>
                    <a:bodyPr/>
                    <a:lstStyle/>
                    <a:p>
                      <a:pPr>
                        <a:buNone/>
                      </a:pPr>
                      <a:r>
                        <a:rPr lang="en-IN" sz="800">
                          <a:solidFill>
                            <a:schemeClr val="tx1"/>
                          </a:solidFill>
                          <a:effectLst/>
                        </a:rPr>
                        <a:t>Conflict Detection Rate (CDR%)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b="1">
                          <a:solidFill>
                            <a:schemeClr val="tx1"/>
                          </a:solidFill>
                          <a:effectLst/>
                        </a:rPr>
                        <a:t>50.0</a:t>
                      </a:r>
                      <a:endParaRPr lang="en-IN" sz="80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0487491"/>
                  </a:ext>
                </a:extLst>
              </a:tr>
              <a:tr h="310604">
                <a:tc>
                  <a:txBody>
                    <a:bodyPr/>
                    <a:lstStyle/>
                    <a:p>
                      <a:pPr>
                        <a:buNone/>
                      </a:pPr>
                      <a:r>
                        <a:rPr lang="en-IN" sz="800">
                          <a:solidFill>
                            <a:schemeClr val="tx1"/>
                          </a:solidFill>
                          <a:effectLst/>
                        </a:rPr>
                        <a:t>Temporal Accuracy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35.7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b="1" dirty="0">
                          <a:solidFill>
                            <a:schemeClr val="tx1"/>
                          </a:solidFill>
                          <a:effectLst/>
                        </a:rPr>
                        <a:t>35.7</a:t>
                      </a:r>
                      <a:endParaRPr lang="en-IN" sz="8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5755709"/>
                  </a:ext>
                </a:extLst>
              </a:tr>
              <a:tr h="310604">
                <a:tc>
                  <a:txBody>
                    <a:bodyPr/>
                    <a:lstStyle/>
                    <a:p>
                      <a:pPr>
                        <a:buNone/>
                      </a:pPr>
                      <a:r>
                        <a:rPr lang="en-IN" sz="800">
                          <a:solidFill>
                            <a:schemeClr val="tx1"/>
                          </a:solidFill>
                          <a:effectLst/>
                        </a:rPr>
                        <a:t>Exact Match (EM%)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31.2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b="1" dirty="0">
                          <a:solidFill>
                            <a:schemeClr val="tx1"/>
                          </a:solidFill>
                          <a:effectLst/>
                        </a:rPr>
                        <a:t>33.6</a:t>
                      </a:r>
                      <a:endParaRPr lang="en-IN" sz="8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6363019"/>
                  </a:ext>
                </a:extLst>
              </a:tr>
              <a:tr h="310604">
                <a:tc>
                  <a:txBody>
                    <a:bodyPr/>
                    <a:lstStyle/>
                    <a:p>
                      <a:pPr>
                        <a:buNone/>
                      </a:pPr>
                      <a:r>
                        <a:rPr lang="en-IN" sz="800">
                          <a:solidFill>
                            <a:schemeClr val="tx1"/>
                          </a:solidFill>
                          <a:effectLst/>
                        </a:rPr>
                        <a:t>Confidence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b="1" dirty="0">
                          <a:solidFill>
                            <a:schemeClr val="tx1"/>
                          </a:solidFill>
                          <a:effectLst/>
                        </a:rPr>
                        <a:t>29.4% </a:t>
                      </a:r>
                      <a:r>
                        <a:rPr lang="en-IN" sz="800" b="1" dirty="0" err="1">
                          <a:solidFill>
                            <a:schemeClr val="tx1"/>
                          </a:solidFill>
                          <a:effectLst/>
                        </a:rPr>
                        <a:t>avg</a:t>
                      </a:r>
                      <a:endParaRPr lang="en-IN" sz="8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3289611"/>
                  </a:ext>
                </a:extLst>
              </a:tr>
            </a:tbl>
          </a:graphicData>
        </a:graphic>
      </p:graphicFrame>
      <p:sp>
        <p:nvSpPr>
          <p:cNvPr id="15" name="TextBox 14">
            <a:extLst>
              <a:ext uri="{FF2B5EF4-FFF2-40B4-BE49-F238E27FC236}">
                <a16:creationId xmlns:a16="http://schemas.microsoft.com/office/drawing/2014/main" id="{6660F645-A564-E4C6-78F8-6B115E2C9DDB}"/>
              </a:ext>
            </a:extLst>
          </p:cNvPr>
          <p:cNvSpPr txBox="1"/>
          <p:nvPr/>
        </p:nvSpPr>
        <p:spPr>
          <a:xfrm>
            <a:off x="431463" y="2634336"/>
            <a:ext cx="4572000" cy="276999"/>
          </a:xfrm>
          <a:prstGeom prst="rect">
            <a:avLst/>
          </a:prstGeom>
          <a:noFill/>
        </p:spPr>
        <p:txBody>
          <a:bodyPr wrap="square">
            <a:spAutoFit/>
          </a:bodyPr>
          <a:lstStyle/>
          <a:p>
            <a:r>
              <a:rPr lang="en-IN" sz="1200" b="1" i="0" dirty="0">
                <a:solidFill>
                  <a:schemeClr val="tx1"/>
                </a:solidFill>
                <a:effectLst/>
                <a:latin typeface="Segoe WPC"/>
              </a:rPr>
              <a:t>Benchmark 2 - Conflict &amp; Temporal (125 Queries)</a:t>
            </a:r>
            <a:endParaRPr lang="en-IN" sz="1200" dirty="0">
              <a:solidFill>
                <a:schemeClr val="tx1"/>
              </a:solidFill>
            </a:endParaRPr>
          </a:p>
        </p:txBody>
      </p:sp>
      <p:sp>
        <p:nvSpPr>
          <p:cNvPr id="17" name="TextBox 16">
            <a:extLst>
              <a:ext uri="{FF2B5EF4-FFF2-40B4-BE49-F238E27FC236}">
                <a16:creationId xmlns:a16="http://schemas.microsoft.com/office/drawing/2014/main" id="{0665374E-4B9F-42B8-B896-7FE3728036DD}"/>
              </a:ext>
            </a:extLst>
          </p:cNvPr>
          <p:cNvSpPr txBox="1"/>
          <p:nvPr/>
        </p:nvSpPr>
        <p:spPr>
          <a:xfrm>
            <a:off x="431463" y="693797"/>
            <a:ext cx="4572000" cy="276999"/>
          </a:xfrm>
          <a:prstGeom prst="rect">
            <a:avLst/>
          </a:prstGeom>
          <a:noFill/>
        </p:spPr>
        <p:txBody>
          <a:bodyPr wrap="square">
            <a:spAutoFit/>
          </a:bodyPr>
          <a:lstStyle/>
          <a:p>
            <a:r>
              <a:rPr lang="fr-FR" sz="1200" b="1" i="0" dirty="0" err="1">
                <a:solidFill>
                  <a:schemeClr val="tx1"/>
                </a:solidFill>
                <a:effectLst/>
                <a:latin typeface="Segoe WPC"/>
              </a:rPr>
              <a:t>HaluEval</a:t>
            </a:r>
            <a:r>
              <a:rPr lang="fr-FR" sz="1200" b="1" i="0" dirty="0">
                <a:solidFill>
                  <a:schemeClr val="tx1"/>
                </a:solidFill>
                <a:effectLst/>
                <a:latin typeface="Segoe WPC"/>
              </a:rPr>
              <a:t> (200 Questions, Hallucination Rejection)</a:t>
            </a:r>
            <a:endParaRPr lang="en-IN" sz="1200" dirty="0">
              <a:solidFill>
                <a:schemeClr val="tx1"/>
              </a:solidFill>
            </a:endParaRPr>
          </a:p>
        </p:txBody>
      </p:sp>
    </p:spTree>
    <p:extLst>
      <p:ext uri="{BB962C8B-B14F-4D97-AF65-F5344CB8AC3E}">
        <p14:creationId xmlns:p14="http://schemas.microsoft.com/office/powerpoint/2010/main" val="994058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5" name="TextBox 4">
            <a:extLst>
              <a:ext uri="{FF2B5EF4-FFF2-40B4-BE49-F238E27FC236}">
                <a16:creationId xmlns:a16="http://schemas.microsoft.com/office/drawing/2014/main" id="{7EED0B5E-39E7-3B0B-B445-53FB1B16CE23}"/>
              </a:ext>
            </a:extLst>
          </p:cNvPr>
          <p:cNvSpPr txBox="1"/>
          <p:nvPr/>
        </p:nvSpPr>
        <p:spPr>
          <a:xfrm>
            <a:off x="3399780" y="165005"/>
            <a:ext cx="5744220" cy="461665"/>
          </a:xfrm>
          <a:prstGeom prst="rect">
            <a:avLst/>
          </a:prstGeom>
          <a:noFill/>
        </p:spPr>
        <p:txBody>
          <a:bodyPr wrap="square">
            <a:spAutoFit/>
          </a:bodyPr>
          <a:lstStyle/>
          <a:p>
            <a:pPr algn="l">
              <a:buNone/>
            </a:pPr>
            <a:r>
              <a:rPr lang="en-IN" sz="2400" b="1" i="0" dirty="0">
                <a:solidFill>
                  <a:schemeClr val="tx1"/>
                </a:solidFill>
                <a:effectLst/>
                <a:latin typeface="Old Standard TT" panose="020B0604020202020204" charset="0"/>
              </a:rPr>
              <a:t>Conclusion</a:t>
            </a:r>
          </a:p>
        </p:txBody>
      </p:sp>
      <p:sp>
        <p:nvSpPr>
          <p:cNvPr id="7" name="TextBox 6">
            <a:extLst>
              <a:ext uri="{FF2B5EF4-FFF2-40B4-BE49-F238E27FC236}">
                <a16:creationId xmlns:a16="http://schemas.microsoft.com/office/drawing/2014/main" id="{6CACA24C-1329-C193-F3E1-F3995621E0B1}"/>
              </a:ext>
            </a:extLst>
          </p:cNvPr>
          <p:cNvSpPr txBox="1"/>
          <p:nvPr/>
        </p:nvSpPr>
        <p:spPr>
          <a:xfrm>
            <a:off x="189068" y="681672"/>
            <a:ext cx="4572000" cy="2031325"/>
          </a:xfrm>
          <a:prstGeom prst="rect">
            <a:avLst/>
          </a:prstGeom>
          <a:noFill/>
        </p:spPr>
        <p:txBody>
          <a:bodyPr wrap="square">
            <a:spAutoFit/>
          </a:bodyPr>
          <a:lstStyle/>
          <a:p>
            <a:pPr algn="l">
              <a:buNone/>
            </a:pPr>
            <a:r>
              <a:rPr lang="en-IN" b="1" i="0" dirty="0">
                <a:solidFill>
                  <a:schemeClr val="tx1"/>
                </a:solidFill>
                <a:effectLst/>
                <a:latin typeface="Segoe WPC"/>
              </a:rPr>
              <a:t>What Was Done</a:t>
            </a:r>
          </a:p>
          <a:p>
            <a:pPr algn="l">
              <a:buNone/>
            </a:pPr>
            <a:endParaRPr lang="en-IN" b="0" i="0" dirty="0">
              <a:solidFill>
                <a:schemeClr val="tx1"/>
              </a:solidFill>
              <a:effectLst/>
              <a:latin typeface="Segoe WPC"/>
            </a:endParaRPr>
          </a:p>
          <a:p>
            <a:pPr algn="l"/>
            <a:r>
              <a:rPr lang="en-IN" b="0" i="0" dirty="0">
                <a:solidFill>
                  <a:schemeClr val="tx1"/>
                </a:solidFill>
                <a:effectLst/>
                <a:latin typeface="Segoe WPC"/>
              </a:rPr>
              <a:t>Faithfully implemented KG-RAG v4 (arXiv:2511.10375)</a:t>
            </a:r>
          </a:p>
          <a:p>
            <a:pPr algn="l"/>
            <a:r>
              <a:rPr lang="en-IN" b="0" i="0" dirty="0">
                <a:solidFill>
                  <a:schemeClr val="tx1"/>
                </a:solidFill>
                <a:effectLst/>
                <a:latin typeface="Segoe WPC"/>
              </a:rPr>
              <a:t>Identified 6 specific gaps in v4 through live pipeline analysis</a:t>
            </a:r>
          </a:p>
          <a:p>
            <a:pPr algn="l"/>
            <a:r>
              <a:rPr lang="en-IN" b="0" i="0" dirty="0">
                <a:solidFill>
                  <a:schemeClr val="tx1"/>
                </a:solidFill>
                <a:effectLst/>
                <a:latin typeface="Segoe WPC"/>
              </a:rPr>
              <a:t>Built </a:t>
            </a:r>
            <a:r>
              <a:rPr lang="en-IN" b="0" i="0" dirty="0" err="1">
                <a:solidFill>
                  <a:schemeClr val="tx1"/>
                </a:solidFill>
                <a:effectLst/>
                <a:latin typeface="Segoe WPC"/>
              </a:rPr>
              <a:t>TruthfulRAG</a:t>
            </a:r>
            <a:r>
              <a:rPr lang="en-IN" b="0" i="0" dirty="0">
                <a:solidFill>
                  <a:schemeClr val="tx1"/>
                </a:solidFill>
                <a:effectLst/>
                <a:latin typeface="Segoe WPC"/>
              </a:rPr>
              <a:t> v5 with temporal decay, corroboration scoring, hybrid retrieval, temporal snapshots, explanation chain, and confidence scoring</a:t>
            </a:r>
          </a:p>
          <a:p>
            <a:pPr algn="l"/>
            <a:r>
              <a:rPr lang="en-IN" b="0" i="0" dirty="0">
                <a:solidFill>
                  <a:schemeClr val="tx1"/>
                </a:solidFill>
                <a:effectLst/>
                <a:latin typeface="Segoe WPC"/>
              </a:rPr>
              <a:t>Evaluated on 2 public benchmarks (325 total queries)</a:t>
            </a:r>
          </a:p>
        </p:txBody>
      </p:sp>
      <p:sp>
        <p:nvSpPr>
          <p:cNvPr id="9" name="TextBox 8">
            <a:extLst>
              <a:ext uri="{FF2B5EF4-FFF2-40B4-BE49-F238E27FC236}">
                <a16:creationId xmlns:a16="http://schemas.microsoft.com/office/drawing/2014/main" id="{6D94FCCA-468B-963A-813E-ACA3362B77AD}"/>
              </a:ext>
            </a:extLst>
          </p:cNvPr>
          <p:cNvSpPr txBox="1"/>
          <p:nvPr/>
        </p:nvSpPr>
        <p:spPr>
          <a:xfrm>
            <a:off x="189068" y="2767999"/>
            <a:ext cx="4609812" cy="307777"/>
          </a:xfrm>
          <a:prstGeom prst="rect">
            <a:avLst/>
          </a:prstGeom>
          <a:noFill/>
        </p:spPr>
        <p:txBody>
          <a:bodyPr wrap="square">
            <a:spAutoFit/>
          </a:bodyPr>
          <a:lstStyle/>
          <a:p>
            <a:r>
              <a:rPr lang="en-IN" b="1" i="0" dirty="0">
                <a:solidFill>
                  <a:schemeClr val="tx1"/>
                </a:solidFill>
                <a:effectLst/>
                <a:latin typeface="Segoe WPC"/>
              </a:rPr>
              <a:t>Findings</a:t>
            </a:r>
            <a:endParaRPr lang="en-IN" dirty="0">
              <a:solidFill>
                <a:schemeClr val="tx1"/>
              </a:solidFill>
            </a:endParaRPr>
          </a:p>
        </p:txBody>
      </p:sp>
      <p:sp>
        <p:nvSpPr>
          <p:cNvPr id="11" name="TextBox 10">
            <a:extLst>
              <a:ext uri="{FF2B5EF4-FFF2-40B4-BE49-F238E27FC236}">
                <a16:creationId xmlns:a16="http://schemas.microsoft.com/office/drawing/2014/main" id="{87E4FB1F-09D3-9B08-27FB-523A96B70498}"/>
              </a:ext>
            </a:extLst>
          </p:cNvPr>
          <p:cNvSpPr txBox="1"/>
          <p:nvPr/>
        </p:nvSpPr>
        <p:spPr>
          <a:xfrm>
            <a:off x="189068" y="3075776"/>
            <a:ext cx="4609812" cy="1815882"/>
          </a:xfrm>
          <a:prstGeom prst="rect">
            <a:avLst/>
          </a:prstGeom>
          <a:noFill/>
        </p:spPr>
        <p:txBody>
          <a:bodyPr wrap="square">
            <a:spAutoFit/>
          </a:bodyPr>
          <a:lstStyle/>
          <a:p>
            <a:pPr algn="l"/>
            <a:r>
              <a:rPr lang="en-US" i="0" dirty="0">
                <a:solidFill>
                  <a:schemeClr val="tx1"/>
                </a:solidFill>
                <a:effectLst/>
                <a:latin typeface="Segoe WPC"/>
              </a:rPr>
              <a:t>Temporal decay alone increases the score gap between conflicting facts from 0.028 to 1.126  making decisive conflict resolution possible</a:t>
            </a:r>
          </a:p>
          <a:p>
            <a:pPr algn="l"/>
            <a:r>
              <a:rPr lang="en-US" i="0" dirty="0">
                <a:solidFill>
                  <a:schemeClr val="tx1"/>
                </a:solidFill>
                <a:effectLst/>
                <a:latin typeface="Segoe WPC"/>
              </a:rPr>
              <a:t>Hallucination rejection improves by +14.5 pp over </a:t>
            </a:r>
            <a:r>
              <a:rPr lang="en-US" i="0" dirty="0" err="1">
                <a:solidFill>
                  <a:schemeClr val="tx1"/>
                </a:solidFill>
                <a:effectLst/>
                <a:latin typeface="Segoe WPC"/>
              </a:rPr>
              <a:t>LangChain</a:t>
            </a:r>
            <a:endParaRPr lang="en-US" i="0" dirty="0">
              <a:solidFill>
                <a:schemeClr val="tx1"/>
              </a:solidFill>
              <a:effectLst/>
              <a:latin typeface="Segoe WPC"/>
            </a:endParaRPr>
          </a:p>
          <a:p>
            <a:pPr algn="l"/>
            <a:r>
              <a:rPr lang="en-US" i="0" dirty="0">
                <a:solidFill>
                  <a:schemeClr val="tx1"/>
                </a:solidFill>
                <a:effectLst/>
                <a:latin typeface="Segoe WPC"/>
              </a:rPr>
              <a:t>Conflict detection rate doubles (25% → 50%)</a:t>
            </a:r>
          </a:p>
          <a:p>
            <a:pPr algn="l"/>
            <a:r>
              <a:rPr lang="en-US" i="0" dirty="0">
                <a:solidFill>
                  <a:schemeClr val="tx1"/>
                </a:solidFill>
                <a:effectLst/>
                <a:latin typeface="Segoe WPC"/>
              </a:rPr>
              <a:t>System runs fully offline on a laptop no cloud, no cost, no data leakage</a:t>
            </a:r>
          </a:p>
        </p:txBody>
      </p:sp>
      <p:graphicFrame>
        <p:nvGraphicFramePr>
          <p:cNvPr id="12" name="Table 11">
            <a:extLst>
              <a:ext uri="{FF2B5EF4-FFF2-40B4-BE49-F238E27FC236}">
                <a16:creationId xmlns:a16="http://schemas.microsoft.com/office/drawing/2014/main" id="{7084C99B-4F22-7CB1-04E1-F55E6336067A}"/>
              </a:ext>
            </a:extLst>
          </p:cNvPr>
          <p:cNvGraphicFramePr>
            <a:graphicFrameLocks noGrp="1"/>
          </p:cNvGraphicFramePr>
          <p:nvPr>
            <p:extLst>
              <p:ext uri="{D42A27DB-BD31-4B8C-83A1-F6EECF244321}">
                <p14:modId xmlns:p14="http://schemas.microsoft.com/office/powerpoint/2010/main" val="2032916997"/>
              </p:ext>
            </p:extLst>
          </p:nvPr>
        </p:nvGraphicFramePr>
        <p:xfrm>
          <a:off x="4881381" y="1208795"/>
          <a:ext cx="3999593" cy="3682863"/>
        </p:xfrm>
        <a:graphic>
          <a:graphicData uri="http://schemas.openxmlformats.org/drawingml/2006/table">
            <a:tbl>
              <a:tblPr/>
              <a:tblGrid>
                <a:gridCol w="2035891">
                  <a:extLst>
                    <a:ext uri="{9D8B030D-6E8A-4147-A177-3AD203B41FA5}">
                      <a16:colId xmlns:a16="http://schemas.microsoft.com/office/drawing/2014/main" val="3139341428"/>
                    </a:ext>
                  </a:extLst>
                </a:gridCol>
                <a:gridCol w="1963702">
                  <a:extLst>
                    <a:ext uri="{9D8B030D-6E8A-4147-A177-3AD203B41FA5}">
                      <a16:colId xmlns:a16="http://schemas.microsoft.com/office/drawing/2014/main" val="2282159253"/>
                    </a:ext>
                  </a:extLst>
                </a:gridCol>
              </a:tblGrid>
              <a:tr h="330063">
                <a:tc>
                  <a:txBody>
                    <a:bodyPr/>
                    <a:lstStyle/>
                    <a:p>
                      <a:pPr algn="l">
                        <a:buNone/>
                      </a:pPr>
                      <a:r>
                        <a:rPr lang="en-IN" b="0" dirty="0">
                          <a:effectLst/>
                        </a:rPr>
                        <a:t>Limitation</a:t>
                      </a:r>
                    </a:p>
                  </a:txBody>
                  <a:tcPr anchor="ctr">
                    <a:lnL w="12700" cap="flat" cmpd="sng" algn="ctr">
                      <a:solidFill>
                        <a:srgbClr val="107E3E"/>
                      </a:solidFill>
                      <a:prstDash val="solid"/>
                      <a:round/>
                      <a:headEnd type="none" w="med" len="med"/>
                      <a:tailEnd type="none" w="med" len="med"/>
                    </a:lnL>
                    <a:lnR w="7620" cap="flat" cmpd="sng" algn="ctr">
                      <a:solidFill>
                        <a:srgbClr val="D0793E"/>
                      </a:solidFill>
                      <a:prstDash val="solid"/>
                      <a:round/>
                      <a:headEnd type="none" w="med" len="med"/>
                      <a:tailEnd type="none" w="med" len="med"/>
                    </a:lnR>
                    <a:lnT w="12700" cap="flat" cmpd="sng" algn="ctr">
                      <a:solidFill>
                        <a:srgbClr val="107E3E"/>
                      </a:solidFill>
                      <a:prstDash val="solid"/>
                      <a:round/>
                      <a:headEnd type="none" w="med" len="med"/>
                      <a:tailEnd type="none" w="med" len="med"/>
                    </a:lnT>
                    <a:lnB w="7620" cap="flat" cmpd="sng" algn="ctr">
                      <a:solidFill>
                        <a:srgbClr val="D08E3E"/>
                      </a:solidFill>
                      <a:prstDash val="solid"/>
                      <a:round/>
                      <a:headEnd type="none" w="med" len="med"/>
                      <a:tailEnd type="none" w="med" len="med"/>
                    </a:lnB>
                    <a:solidFill>
                      <a:schemeClr val="accent2"/>
                    </a:solidFill>
                  </a:tcPr>
                </a:tc>
                <a:tc>
                  <a:txBody>
                    <a:bodyPr/>
                    <a:lstStyle/>
                    <a:p>
                      <a:pPr algn="l">
                        <a:buNone/>
                      </a:pPr>
                      <a:r>
                        <a:rPr lang="en-IN" b="0">
                          <a:effectLst/>
                        </a:rPr>
                        <a:t>Proposed Fix</a:t>
                      </a:r>
                    </a:p>
                  </a:txBody>
                  <a:tcPr anchor="ctr">
                    <a:lnL w="7620" cap="flat" cmpd="sng" algn="ctr">
                      <a:solidFill>
                        <a:srgbClr val="D0793E"/>
                      </a:solidFill>
                      <a:prstDash val="solid"/>
                      <a:round/>
                      <a:headEnd type="none" w="med" len="med"/>
                      <a:tailEnd type="none" w="med" len="med"/>
                    </a:lnL>
                    <a:lnR w="12700" cap="flat" cmpd="sng" algn="ctr">
                      <a:solidFill>
                        <a:srgbClr val="D0793E"/>
                      </a:solidFill>
                      <a:prstDash val="solid"/>
                      <a:round/>
                      <a:headEnd type="none" w="med" len="med"/>
                      <a:tailEnd type="none" w="med" len="med"/>
                    </a:lnR>
                    <a:lnT w="12700" cap="flat" cmpd="sng" algn="ctr">
                      <a:solidFill>
                        <a:srgbClr val="D0793E"/>
                      </a:solidFill>
                      <a:prstDash val="solid"/>
                      <a:round/>
                      <a:headEnd type="none" w="med" len="med"/>
                      <a:tailEnd type="none" w="med" len="med"/>
                    </a:lnT>
                    <a:lnB w="7620" cap="flat" cmpd="sng" algn="ctr">
                      <a:solidFill>
                        <a:srgbClr val="50913E"/>
                      </a:solidFill>
                      <a:prstDash val="solid"/>
                      <a:round/>
                      <a:headEnd type="none" w="med" len="med"/>
                      <a:tailEnd type="none" w="med" len="med"/>
                    </a:lnB>
                    <a:solidFill>
                      <a:schemeClr val="accent2"/>
                    </a:solidFill>
                  </a:tcPr>
                </a:tc>
                <a:extLst>
                  <a:ext uri="{0D108BD9-81ED-4DB2-BD59-A6C34878D82A}">
                    <a16:rowId xmlns:a16="http://schemas.microsoft.com/office/drawing/2014/main" val="2321629485"/>
                  </a:ext>
                </a:extLst>
              </a:tr>
              <a:tr h="330063">
                <a:tc>
                  <a:txBody>
                    <a:bodyPr/>
                    <a:lstStyle/>
                    <a:p>
                      <a:pPr>
                        <a:buNone/>
                      </a:pPr>
                      <a:r>
                        <a:rPr lang="en-US" dirty="0">
                          <a:effectLst/>
                        </a:rPr>
                        <a:t>Negation blindness (extracts "safe" from "not safe")</a:t>
                      </a:r>
                    </a:p>
                  </a:txBody>
                  <a:tcPr anchor="ctr">
                    <a:lnL w="12700" cap="flat" cmpd="sng" algn="ctr">
                      <a:solidFill>
                        <a:srgbClr val="D08E3E"/>
                      </a:solidFill>
                      <a:prstDash val="solid"/>
                      <a:round/>
                      <a:headEnd type="none" w="med" len="med"/>
                      <a:tailEnd type="none" w="med" len="med"/>
                    </a:lnL>
                    <a:lnR w="7620" cap="flat" cmpd="sng" algn="ctr">
                      <a:solidFill>
                        <a:srgbClr val="50913E"/>
                      </a:solidFill>
                      <a:prstDash val="solid"/>
                      <a:round/>
                      <a:headEnd type="none" w="med" len="med"/>
                      <a:tailEnd type="none" w="med" len="med"/>
                    </a:lnR>
                    <a:lnT w="7620" cap="flat" cmpd="sng" algn="ctr">
                      <a:solidFill>
                        <a:srgbClr val="D08E3E"/>
                      </a:solidFill>
                      <a:prstDash val="solid"/>
                      <a:round/>
                      <a:headEnd type="none" w="med" len="med"/>
                      <a:tailEnd type="none" w="med" len="med"/>
                    </a:lnT>
                    <a:lnB w="7620" cap="flat" cmpd="sng" algn="ctr">
                      <a:solidFill>
                        <a:srgbClr val="508B3E"/>
                      </a:solidFill>
                      <a:prstDash val="solid"/>
                      <a:round/>
                      <a:headEnd type="none" w="med" len="med"/>
                      <a:tailEnd type="none" w="med" len="med"/>
                    </a:lnB>
                    <a:solidFill>
                      <a:schemeClr val="accent2"/>
                    </a:solidFill>
                  </a:tcPr>
                </a:tc>
                <a:tc>
                  <a:txBody>
                    <a:bodyPr/>
                    <a:lstStyle/>
                    <a:p>
                      <a:pPr>
                        <a:buNone/>
                      </a:pPr>
                      <a:r>
                        <a:rPr lang="en-US" dirty="0">
                          <a:effectLst/>
                        </a:rPr>
                        <a:t>Fine-tune extractor on negation-aware datasets</a:t>
                      </a:r>
                    </a:p>
                  </a:txBody>
                  <a:tcPr anchor="ctr">
                    <a:lnL w="7620" cap="flat" cmpd="sng" algn="ctr">
                      <a:solidFill>
                        <a:srgbClr val="50913E"/>
                      </a:solidFill>
                      <a:prstDash val="solid"/>
                      <a:round/>
                      <a:headEnd type="none" w="med" len="med"/>
                      <a:tailEnd type="none" w="med" len="med"/>
                    </a:lnL>
                    <a:lnR w="12700" cap="flat" cmpd="sng" algn="ctr">
                      <a:solidFill>
                        <a:srgbClr val="50913E"/>
                      </a:solidFill>
                      <a:prstDash val="solid"/>
                      <a:round/>
                      <a:headEnd type="none" w="med" len="med"/>
                      <a:tailEnd type="none" w="med" len="med"/>
                    </a:lnR>
                    <a:lnT w="7620" cap="flat" cmpd="sng" algn="ctr">
                      <a:solidFill>
                        <a:srgbClr val="50913E"/>
                      </a:solidFill>
                      <a:prstDash val="solid"/>
                      <a:round/>
                      <a:headEnd type="none" w="med" len="med"/>
                      <a:tailEnd type="none" w="med" len="med"/>
                    </a:lnT>
                    <a:lnB w="7620" cap="flat" cmpd="sng" algn="ctr">
                      <a:solidFill>
                        <a:srgbClr val="108B3E"/>
                      </a:solidFill>
                      <a:prstDash val="solid"/>
                      <a:round/>
                      <a:headEnd type="none" w="med" len="med"/>
                      <a:tailEnd type="none" w="med" len="med"/>
                    </a:lnB>
                    <a:solidFill>
                      <a:schemeClr val="accent2"/>
                    </a:solidFill>
                  </a:tcPr>
                </a:tc>
                <a:extLst>
                  <a:ext uri="{0D108BD9-81ED-4DB2-BD59-A6C34878D82A}">
                    <a16:rowId xmlns:a16="http://schemas.microsoft.com/office/drawing/2014/main" val="1791523419"/>
                  </a:ext>
                </a:extLst>
              </a:tr>
              <a:tr h="561107">
                <a:tc>
                  <a:txBody>
                    <a:bodyPr/>
                    <a:lstStyle/>
                    <a:p>
                      <a:pPr>
                        <a:buNone/>
                      </a:pPr>
                      <a:r>
                        <a:rPr lang="en-IN" dirty="0">
                          <a:effectLst/>
                        </a:rPr>
                        <a:t>Same-year conflicts unresolved</a:t>
                      </a:r>
                    </a:p>
                  </a:txBody>
                  <a:tcPr anchor="ctr">
                    <a:lnL w="12700" cap="flat" cmpd="sng" algn="ctr">
                      <a:solidFill>
                        <a:srgbClr val="508B3E"/>
                      </a:solidFill>
                      <a:prstDash val="solid"/>
                      <a:round/>
                      <a:headEnd type="none" w="med" len="med"/>
                      <a:tailEnd type="none" w="med" len="med"/>
                    </a:lnL>
                    <a:lnR w="7620" cap="flat" cmpd="sng" algn="ctr">
                      <a:solidFill>
                        <a:srgbClr val="108B3E"/>
                      </a:solidFill>
                      <a:prstDash val="solid"/>
                      <a:round/>
                      <a:headEnd type="none" w="med" len="med"/>
                      <a:tailEnd type="none" w="med" len="med"/>
                    </a:lnR>
                    <a:lnT w="7620" cap="flat" cmpd="sng" algn="ctr">
                      <a:solidFill>
                        <a:srgbClr val="508B3E"/>
                      </a:solidFill>
                      <a:prstDash val="solid"/>
                      <a:round/>
                      <a:headEnd type="none" w="med" len="med"/>
                      <a:tailEnd type="none" w="med" len="med"/>
                    </a:lnT>
                    <a:lnB w="7620" cap="flat" cmpd="sng" algn="ctr">
                      <a:solidFill>
                        <a:srgbClr val="D09E3E"/>
                      </a:solidFill>
                      <a:prstDash val="solid"/>
                      <a:round/>
                      <a:headEnd type="none" w="med" len="med"/>
                      <a:tailEnd type="none" w="med" len="med"/>
                    </a:lnB>
                    <a:solidFill>
                      <a:schemeClr val="accent2"/>
                    </a:solidFill>
                  </a:tcPr>
                </a:tc>
                <a:tc>
                  <a:txBody>
                    <a:bodyPr/>
                    <a:lstStyle/>
                    <a:p>
                      <a:pPr>
                        <a:buNone/>
                      </a:pPr>
                      <a:r>
                        <a:rPr lang="en-US">
                          <a:effectLst/>
                        </a:rPr>
                        <a:t>Add sentence-level timestamp + source credibility score</a:t>
                      </a:r>
                    </a:p>
                  </a:txBody>
                  <a:tcPr anchor="ctr">
                    <a:lnL w="7620" cap="flat" cmpd="sng" algn="ctr">
                      <a:solidFill>
                        <a:srgbClr val="108B3E"/>
                      </a:solidFill>
                      <a:prstDash val="solid"/>
                      <a:round/>
                      <a:headEnd type="none" w="med" len="med"/>
                      <a:tailEnd type="none" w="med" len="med"/>
                    </a:lnL>
                    <a:lnR w="12700" cap="flat" cmpd="sng" algn="ctr">
                      <a:solidFill>
                        <a:srgbClr val="108B3E"/>
                      </a:solidFill>
                      <a:prstDash val="solid"/>
                      <a:round/>
                      <a:headEnd type="none" w="med" len="med"/>
                      <a:tailEnd type="none" w="med" len="med"/>
                    </a:lnR>
                    <a:lnT w="7620" cap="flat" cmpd="sng" algn="ctr">
                      <a:solidFill>
                        <a:srgbClr val="108B3E"/>
                      </a:solidFill>
                      <a:prstDash val="solid"/>
                      <a:round/>
                      <a:headEnd type="none" w="med" len="med"/>
                      <a:tailEnd type="none" w="med" len="med"/>
                    </a:lnT>
                    <a:lnB w="7620" cap="flat" cmpd="sng" algn="ctr">
                      <a:solidFill>
                        <a:srgbClr val="90973E"/>
                      </a:solidFill>
                      <a:prstDash val="solid"/>
                      <a:round/>
                      <a:headEnd type="none" w="med" len="med"/>
                      <a:tailEnd type="none" w="med" len="med"/>
                    </a:lnB>
                    <a:solidFill>
                      <a:schemeClr val="accent2"/>
                    </a:solidFill>
                  </a:tcPr>
                </a:tc>
                <a:extLst>
                  <a:ext uri="{0D108BD9-81ED-4DB2-BD59-A6C34878D82A}">
                    <a16:rowId xmlns:a16="http://schemas.microsoft.com/office/drawing/2014/main" val="3206216327"/>
                  </a:ext>
                </a:extLst>
              </a:tr>
              <a:tr h="561107">
                <a:tc>
                  <a:txBody>
                    <a:bodyPr/>
                    <a:lstStyle/>
                    <a:p>
                      <a:pPr>
                        <a:buNone/>
                      </a:pPr>
                      <a:r>
                        <a:rPr lang="en-US" dirty="0">
                          <a:effectLst/>
                        </a:rPr>
                        <a:t>Fixed decay rate for all domains</a:t>
                      </a:r>
                    </a:p>
                  </a:txBody>
                  <a:tcPr anchor="ctr">
                    <a:lnL w="12700" cap="flat" cmpd="sng" algn="ctr">
                      <a:solidFill>
                        <a:srgbClr val="D09E3E"/>
                      </a:solidFill>
                      <a:prstDash val="solid"/>
                      <a:round/>
                      <a:headEnd type="none" w="med" len="med"/>
                      <a:tailEnd type="none" w="med" len="med"/>
                    </a:lnL>
                    <a:lnR w="7620" cap="flat" cmpd="sng" algn="ctr">
                      <a:solidFill>
                        <a:srgbClr val="90973E"/>
                      </a:solidFill>
                      <a:prstDash val="solid"/>
                      <a:round/>
                      <a:headEnd type="none" w="med" len="med"/>
                      <a:tailEnd type="none" w="med" len="med"/>
                    </a:lnR>
                    <a:lnT w="7620" cap="flat" cmpd="sng" algn="ctr">
                      <a:solidFill>
                        <a:srgbClr val="D09E3E"/>
                      </a:solidFill>
                      <a:prstDash val="solid"/>
                      <a:round/>
                      <a:headEnd type="none" w="med" len="med"/>
                      <a:tailEnd type="none" w="med" len="med"/>
                    </a:lnT>
                    <a:lnB w="7620" cap="flat" cmpd="sng" algn="ctr">
                      <a:solidFill>
                        <a:srgbClr val="D09D3E"/>
                      </a:solidFill>
                      <a:prstDash val="solid"/>
                      <a:round/>
                      <a:headEnd type="none" w="med" len="med"/>
                      <a:tailEnd type="none" w="med" len="med"/>
                    </a:lnB>
                    <a:solidFill>
                      <a:schemeClr val="accent2"/>
                    </a:solidFill>
                  </a:tcPr>
                </a:tc>
                <a:tc>
                  <a:txBody>
                    <a:bodyPr/>
                    <a:lstStyle/>
                    <a:p>
                      <a:pPr>
                        <a:buNone/>
                      </a:pPr>
                      <a:r>
                        <a:rPr lang="en-US" dirty="0">
                          <a:effectLst/>
                        </a:rPr>
                        <a:t>Domain-adaptive lambda (medical: faster decay; legal: slower)</a:t>
                      </a:r>
                    </a:p>
                  </a:txBody>
                  <a:tcPr anchor="ctr">
                    <a:lnL w="7620" cap="flat" cmpd="sng" algn="ctr">
                      <a:solidFill>
                        <a:srgbClr val="90973E"/>
                      </a:solidFill>
                      <a:prstDash val="solid"/>
                      <a:round/>
                      <a:headEnd type="none" w="med" len="med"/>
                      <a:tailEnd type="none" w="med" len="med"/>
                    </a:lnL>
                    <a:lnR w="12700" cap="flat" cmpd="sng" algn="ctr">
                      <a:solidFill>
                        <a:srgbClr val="90973E"/>
                      </a:solidFill>
                      <a:prstDash val="solid"/>
                      <a:round/>
                      <a:headEnd type="none" w="med" len="med"/>
                      <a:tailEnd type="none" w="med" len="med"/>
                    </a:lnR>
                    <a:lnT w="7620" cap="flat" cmpd="sng" algn="ctr">
                      <a:solidFill>
                        <a:srgbClr val="90973E"/>
                      </a:solidFill>
                      <a:prstDash val="solid"/>
                      <a:round/>
                      <a:headEnd type="none" w="med" len="med"/>
                      <a:tailEnd type="none" w="med" len="med"/>
                    </a:lnT>
                    <a:lnB w="7620" cap="flat" cmpd="sng" algn="ctr">
                      <a:solidFill>
                        <a:srgbClr val="109B3E"/>
                      </a:solidFill>
                      <a:prstDash val="solid"/>
                      <a:round/>
                      <a:headEnd type="none" w="med" len="med"/>
                      <a:tailEnd type="none" w="med" len="med"/>
                    </a:lnB>
                    <a:solidFill>
                      <a:schemeClr val="accent2"/>
                    </a:solidFill>
                  </a:tcPr>
                </a:tc>
                <a:extLst>
                  <a:ext uri="{0D108BD9-81ED-4DB2-BD59-A6C34878D82A}">
                    <a16:rowId xmlns:a16="http://schemas.microsoft.com/office/drawing/2014/main" val="2194963862"/>
                  </a:ext>
                </a:extLst>
              </a:tr>
              <a:tr h="561107">
                <a:tc>
                  <a:txBody>
                    <a:bodyPr/>
                    <a:lstStyle/>
                    <a:p>
                      <a:pPr>
                        <a:buNone/>
                      </a:pPr>
                      <a:r>
                        <a:rPr lang="en-IN" dirty="0">
                          <a:effectLst/>
                        </a:rPr>
                        <a:t>Only 3 entropy samples</a:t>
                      </a:r>
                    </a:p>
                  </a:txBody>
                  <a:tcPr anchor="ctr">
                    <a:lnL w="12700" cap="flat" cmpd="sng" algn="ctr">
                      <a:solidFill>
                        <a:srgbClr val="D09D3E"/>
                      </a:solidFill>
                      <a:prstDash val="solid"/>
                      <a:round/>
                      <a:headEnd type="none" w="med" len="med"/>
                      <a:tailEnd type="none" w="med" len="med"/>
                    </a:lnL>
                    <a:lnR w="7620" cap="flat" cmpd="sng" algn="ctr">
                      <a:solidFill>
                        <a:srgbClr val="109B3E"/>
                      </a:solidFill>
                      <a:prstDash val="solid"/>
                      <a:round/>
                      <a:headEnd type="none" w="med" len="med"/>
                      <a:tailEnd type="none" w="med" len="med"/>
                    </a:lnR>
                    <a:lnT w="7620" cap="flat" cmpd="sng" algn="ctr">
                      <a:solidFill>
                        <a:srgbClr val="D09D3E"/>
                      </a:solidFill>
                      <a:prstDash val="solid"/>
                      <a:round/>
                      <a:headEnd type="none" w="med" len="med"/>
                      <a:tailEnd type="none" w="med" len="med"/>
                    </a:lnT>
                    <a:lnB w="12700" cap="flat" cmpd="sng" algn="ctr">
                      <a:solidFill>
                        <a:srgbClr val="D09D3E"/>
                      </a:solidFill>
                      <a:prstDash val="solid"/>
                      <a:round/>
                      <a:headEnd type="none" w="med" len="med"/>
                      <a:tailEnd type="none" w="med" len="med"/>
                    </a:lnB>
                    <a:solidFill>
                      <a:schemeClr val="accent2"/>
                    </a:solidFill>
                  </a:tcPr>
                </a:tc>
                <a:tc>
                  <a:txBody>
                    <a:bodyPr/>
                    <a:lstStyle/>
                    <a:p>
                      <a:pPr>
                        <a:buNone/>
                      </a:pPr>
                      <a:r>
                        <a:rPr lang="en-US" dirty="0">
                          <a:effectLst/>
                        </a:rPr>
                        <a:t>Increase samples; use semantic clustering for richer entropy estimate</a:t>
                      </a:r>
                    </a:p>
                  </a:txBody>
                  <a:tcPr anchor="ctr">
                    <a:lnL w="7620" cap="flat" cmpd="sng" algn="ctr">
                      <a:solidFill>
                        <a:srgbClr val="109B3E"/>
                      </a:solidFill>
                      <a:prstDash val="solid"/>
                      <a:round/>
                      <a:headEnd type="none" w="med" len="med"/>
                      <a:tailEnd type="none" w="med" len="med"/>
                    </a:lnL>
                    <a:lnR w="12700" cap="flat" cmpd="sng" algn="ctr">
                      <a:solidFill>
                        <a:srgbClr val="109B3E"/>
                      </a:solidFill>
                      <a:prstDash val="solid"/>
                      <a:round/>
                      <a:headEnd type="none" w="med" len="med"/>
                      <a:tailEnd type="none" w="med" len="med"/>
                    </a:lnR>
                    <a:lnT w="7620" cap="flat" cmpd="sng" algn="ctr">
                      <a:solidFill>
                        <a:srgbClr val="109B3E"/>
                      </a:solidFill>
                      <a:prstDash val="solid"/>
                      <a:round/>
                      <a:headEnd type="none" w="med" len="med"/>
                      <a:tailEnd type="none" w="med" len="med"/>
                    </a:lnT>
                    <a:lnB w="12700" cap="flat" cmpd="sng" algn="ctr">
                      <a:solidFill>
                        <a:srgbClr val="109B3E"/>
                      </a:solidFill>
                      <a:prstDash val="solid"/>
                      <a:round/>
                      <a:headEnd type="none" w="med" len="med"/>
                      <a:tailEnd type="none" w="med" len="med"/>
                    </a:lnB>
                    <a:solidFill>
                      <a:schemeClr val="accent2"/>
                    </a:solidFill>
                  </a:tcPr>
                </a:tc>
                <a:extLst>
                  <a:ext uri="{0D108BD9-81ED-4DB2-BD59-A6C34878D82A}">
                    <a16:rowId xmlns:a16="http://schemas.microsoft.com/office/drawing/2014/main" val="1904651043"/>
                  </a:ext>
                </a:extLst>
              </a:tr>
            </a:tbl>
          </a:graphicData>
        </a:graphic>
      </p:graphicFrame>
      <p:sp>
        <p:nvSpPr>
          <p:cNvPr id="14" name="TextBox 13">
            <a:extLst>
              <a:ext uri="{FF2B5EF4-FFF2-40B4-BE49-F238E27FC236}">
                <a16:creationId xmlns:a16="http://schemas.microsoft.com/office/drawing/2014/main" id="{6C35E46C-786F-6CD1-7414-80B22128EEEC}"/>
              </a:ext>
            </a:extLst>
          </p:cNvPr>
          <p:cNvSpPr txBox="1"/>
          <p:nvPr/>
        </p:nvSpPr>
        <p:spPr>
          <a:xfrm>
            <a:off x="5486398" y="681672"/>
            <a:ext cx="4609812" cy="307777"/>
          </a:xfrm>
          <a:prstGeom prst="rect">
            <a:avLst/>
          </a:prstGeom>
          <a:noFill/>
        </p:spPr>
        <p:txBody>
          <a:bodyPr wrap="square">
            <a:spAutoFit/>
          </a:bodyPr>
          <a:lstStyle/>
          <a:p>
            <a:pPr algn="l">
              <a:buNone/>
            </a:pPr>
            <a:r>
              <a:rPr lang="en-IN" b="1" dirty="0">
                <a:solidFill>
                  <a:schemeClr val="tx1"/>
                </a:solidFill>
                <a:latin typeface="Segoe WPC"/>
              </a:rPr>
              <a:t>Limitations and Proposed Fix</a:t>
            </a:r>
            <a:endParaRPr lang="en-IN" b="1" i="0" dirty="0">
              <a:solidFill>
                <a:schemeClr val="tx1"/>
              </a:solidFill>
              <a:effectLst/>
              <a:latin typeface="Segoe WP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5978A217-D949-711B-2C37-C54E98DDDE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8CB5C0-6264-D71E-532B-5E46CD983EF2}"/>
              </a:ext>
            </a:extLst>
          </p:cNvPr>
          <p:cNvSpPr txBox="1"/>
          <p:nvPr/>
        </p:nvSpPr>
        <p:spPr>
          <a:xfrm>
            <a:off x="3489158" y="115044"/>
            <a:ext cx="5744220" cy="461665"/>
          </a:xfrm>
          <a:prstGeom prst="rect">
            <a:avLst/>
          </a:prstGeom>
          <a:noFill/>
        </p:spPr>
        <p:txBody>
          <a:bodyPr wrap="square">
            <a:spAutoFit/>
          </a:bodyPr>
          <a:lstStyle/>
          <a:p>
            <a:r>
              <a:rPr lang="en-US" sz="2400" b="1" dirty="0">
                <a:latin typeface="Old Standard TT" panose="020B0604020202020204" charset="0"/>
              </a:rPr>
              <a:t>References</a:t>
            </a:r>
          </a:p>
        </p:txBody>
      </p:sp>
      <p:sp>
        <p:nvSpPr>
          <p:cNvPr id="4" name="TextBox 3">
            <a:extLst>
              <a:ext uri="{FF2B5EF4-FFF2-40B4-BE49-F238E27FC236}">
                <a16:creationId xmlns:a16="http://schemas.microsoft.com/office/drawing/2014/main" id="{D0B1D1C2-5C73-4767-8030-E76195C2DC49}"/>
              </a:ext>
            </a:extLst>
          </p:cNvPr>
          <p:cNvSpPr txBox="1"/>
          <p:nvPr/>
        </p:nvSpPr>
        <p:spPr>
          <a:xfrm>
            <a:off x="397041" y="702912"/>
            <a:ext cx="8080065" cy="3816429"/>
          </a:xfrm>
          <a:prstGeom prst="rect">
            <a:avLst/>
          </a:prstGeom>
          <a:noFill/>
        </p:spPr>
        <p:txBody>
          <a:bodyPr wrap="square">
            <a:spAutoFit/>
          </a:bodyPr>
          <a:lstStyle/>
          <a:p>
            <a:r>
              <a:rPr lang="en-IN" sz="1100" dirty="0"/>
              <a:t>[1] Lewis, P., Perez, E., </a:t>
            </a:r>
            <a:r>
              <a:rPr lang="en-IN" sz="1100" dirty="0" err="1"/>
              <a:t>Piktus</a:t>
            </a:r>
            <a:r>
              <a:rPr lang="en-IN" sz="1100" dirty="0"/>
              <a:t>, A., Petroni, F., Karpukhin, V.,</a:t>
            </a:r>
          </a:p>
          <a:p>
            <a:r>
              <a:rPr lang="en-IN" sz="1100" dirty="0"/>
              <a:t>    Goyal, N., ... &amp; Kiela, D. (2020). Retrieval-Augmented Generation</a:t>
            </a:r>
          </a:p>
          <a:p>
            <a:r>
              <a:rPr lang="en-IN" sz="1100" dirty="0"/>
              <a:t>    for Knowledge-Intensive NLP Tasks. Advances in Neural Information</a:t>
            </a:r>
          </a:p>
          <a:p>
            <a:r>
              <a:rPr lang="en-IN" sz="1100" dirty="0"/>
              <a:t>    Processing Systems (</a:t>
            </a:r>
            <a:r>
              <a:rPr lang="en-IN" sz="1100" dirty="0" err="1"/>
              <a:t>NeurIPS</a:t>
            </a:r>
            <a:r>
              <a:rPr lang="en-IN" sz="1100" dirty="0"/>
              <a:t>), 33, 9459–9474.</a:t>
            </a:r>
          </a:p>
          <a:p>
            <a:r>
              <a:rPr lang="en-IN" sz="1100" dirty="0"/>
              <a:t>    Why cited: Foundational RAG - the whole field starts here.</a:t>
            </a:r>
          </a:p>
          <a:p>
            <a:endParaRPr lang="en-IN" sz="1100" dirty="0"/>
          </a:p>
          <a:p>
            <a:r>
              <a:rPr lang="en-IN" sz="1100" dirty="0"/>
              <a:t>[2] Wang, Z., et al. (2024). </a:t>
            </a:r>
            <a:r>
              <a:rPr lang="en-IN" sz="1100" dirty="0" err="1"/>
              <a:t>TruthfulRAG</a:t>
            </a:r>
            <a:r>
              <a:rPr lang="en-IN" sz="1100" dirty="0"/>
              <a:t>: Conflict-Aware Retrieval</a:t>
            </a:r>
          </a:p>
          <a:p>
            <a:r>
              <a:rPr lang="en-IN" sz="1100" dirty="0"/>
              <a:t>    Augmented Generation with Knowledge Graph Grounding.</a:t>
            </a:r>
          </a:p>
          <a:p>
            <a:r>
              <a:rPr lang="en-IN" sz="1100" dirty="0"/>
              <a:t>    </a:t>
            </a:r>
            <a:r>
              <a:rPr lang="en-IN" sz="1100" dirty="0" err="1"/>
              <a:t>arXiv</a:t>
            </a:r>
            <a:r>
              <a:rPr lang="en-IN" sz="1100" dirty="0"/>
              <a:t> preprint arXiv:2511.10375.</a:t>
            </a:r>
          </a:p>
          <a:p>
            <a:r>
              <a:rPr lang="en-IN" sz="1100" dirty="0"/>
              <a:t>    Why cited: The paper I implemented - the most important citation.</a:t>
            </a:r>
          </a:p>
          <a:p>
            <a:endParaRPr lang="en-IN" sz="1100" dirty="0"/>
          </a:p>
          <a:p>
            <a:r>
              <a:rPr lang="en-IN" sz="1100" dirty="0"/>
              <a:t>[4] Li, J., Cheng, X., Zhao, W. X., Nie, J. Y., &amp; Wen, J. R. (2023).</a:t>
            </a:r>
          </a:p>
          <a:p>
            <a:r>
              <a:rPr lang="en-IN" sz="1100" dirty="0"/>
              <a:t>    </a:t>
            </a:r>
            <a:r>
              <a:rPr lang="en-IN" sz="1100" dirty="0" err="1"/>
              <a:t>HaluEval</a:t>
            </a:r>
            <a:r>
              <a:rPr lang="en-IN" sz="1100" dirty="0"/>
              <a:t>: A Large-Scale Hallucination Evaluation Benchmark for Large Language Models. </a:t>
            </a:r>
          </a:p>
          <a:p>
            <a:r>
              <a:rPr lang="en-IN" sz="1100" dirty="0"/>
              <a:t>    Proceedings of the 2023   Conference on</a:t>
            </a:r>
          </a:p>
          <a:p>
            <a:r>
              <a:rPr lang="en-IN" sz="1100" dirty="0"/>
              <a:t>    Empirical Methods in Natural Language Processing (EMNLP), 6449–6464.</a:t>
            </a:r>
          </a:p>
          <a:p>
            <a:r>
              <a:rPr lang="en-IN" sz="1100" dirty="0"/>
              <a:t>    Why cited: The actual benchmark dataset used in my evaluation.</a:t>
            </a:r>
          </a:p>
          <a:p>
            <a:endParaRPr lang="en-IN" sz="1100" dirty="0"/>
          </a:p>
          <a:p>
            <a:r>
              <a:rPr lang="en-IN" sz="1100" dirty="0"/>
              <a:t>[5] Pan, S., Luo, L., Wang, Y., Chen, C., Wang, J., &amp; Wu, X. (2024).</a:t>
            </a:r>
          </a:p>
          <a:p>
            <a:r>
              <a:rPr lang="en-IN" sz="1100" dirty="0"/>
              <a:t>    Unifying Large Language Models and Knowledge Graphs: A Roadmap.</a:t>
            </a:r>
          </a:p>
          <a:p>
            <a:r>
              <a:rPr lang="en-IN" sz="1100" dirty="0"/>
              <a:t>    IEEE Transactions on Knowledge and Data Engineering (TKDE),</a:t>
            </a:r>
          </a:p>
          <a:p>
            <a:r>
              <a:rPr lang="en-IN" sz="1100" dirty="0"/>
              <a:t>    36(7), 3580–3599.</a:t>
            </a:r>
          </a:p>
          <a:p>
            <a:r>
              <a:rPr lang="en-IN" sz="1100" dirty="0"/>
              <a:t>    Why cited: Positions v5 within the LLM+KG research direction.</a:t>
            </a:r>
          </a:p>
        </p:txBody>
      </p:sp>
    </p:spTree>
    <p:extLst>
      <p:ext uri="{BB962C8B-B14F-4D97-AF65-F5344CB8AC3E}">
        <p14:creationId xmlns:p14="http://schemas.microsoft.com/office/powerpoint/2010/main" val="1724349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64">
          <a:extLst>
            <a:ext uri="{FF2B5EF4-FFF2-40B4-BE49-F238E27FC236}">
              <a16:creationId xmlns:a16="http://schemas.microsoft.com/office/drawing/2014/main" id="{7FE33099-3D5B-DC68-3EF9-5DF46035E4C9}"/>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EF08C340-F114-4664-090F-659C26643CA9}"/>
              </a:ext>
            </a:extLst>
          </p:cNvPr>
          <p:cNvSpPr txBox="1">
            <a:spLocks noGrp="1"/>
          </p:cNvSpPr>
          <p:nvPr>
            <p:ph type="title"/>
          </p:nvPr>
        </p:nvSpPr>
        <p:spPr>
          <a:xfrm>
            <a:off x="1714350" y="125113"/>
            <a:ext cx="5715300" cy="61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t>Background/Existing Work </a:t>
            </a:r>
            <a:endParaRPr sz="3200" dirty="0"/>
          </a:p>
        </p:txBody>
      </p:sp>
      <p:graphicFrame>
        <p:nvGraphicFramePr>
          <p:cNvPr id="3" name="Table 2">
            <a:extLst>
              <a:ext uri="{FF2B5EF4-FFF2-40B4-BE49-F238E27FC236}">
                <a16:creationId xmlns:a16="http://schemas.microsoft.com/office/drawing/2014/main" id="{4B2C6A04-FDA2-CC79-E6FB-F555C3E99954}"/>
              </a:ext>
            </a:extLst>
          </p:cNvPr>
          <p:cNvGraphicFramePr>
            <a:graphicFrameLocks noGrp="1"/>
          </p:cNvGraphicFramePr>
          <p:nvPr>
            <p:extLst>
              <p:ext uri="{D42A27DB-BD31-4B8C-83A1-F6EECF244321}">
                <p14:modId xmlns:p14="http://schemas.microsoft.com/office/powerpoint/2010/main" val="2377755878"/>
              </p:ext>
            </p:extLst>
          </p:nvPr>
        </p:nvGraphicFramePr>
        <p:xfrm>
          <a:off x="318025" y="1242834"/>
          <a:ext cx="3917091" cy="3377292"/>
        </p:xfrm>
        <a:graphic>
          <a:graphicData uri="http://schemas.openxmlformats.org/drawingml/2006/table">
            <a:tbl>
              <a:tblPr>
                <a:tableStyleId>{2D5ABB26-0587-4C30-8999-92F81FD0307C}</a:tableStyleId>
              </a:tblPr>
              <a:tblGrid>
                <a:gridCol w="817457">
                  <a:extLst>
                    <a:ext uri="{9D8B030D-6E8A-4147-A177-3AD203B41FA5}">
                      <a16:colId xmlns:a16="http://schemas.microsoft.com/office/drawing/2014/main" val="2807908640"/>
                    </a:ext>
                  </a:extLst>
                </a:gridCol>
                <a:gridCol w="517025">
                  <a:extLst>
                    <a:ext uri="{9D8B030D-6E8A-4147-A177-3AD203B41FA5}">
                      <a16:colId xmlns:a16="http://schemas.microsoft.com/office/drawing/2014/main" val="477951714"/>
                    </a:ext>
                  </a:extLst>
                </a:gridCol>
                <a:gridCol w="1082512">
                  <a:extLst>
                    <a:ext uri="{9D8B030D-6E8A-4147-A177-3AD203B41FA5}">
                      <a16:colId xmlns:a16="http://schemas.microsoft.com/office/drawing/2014/main" val="508972776"/>
                    </a:ext>
                  </a:extLst>
                </a:gridCol>
                <a:gridCol w="1500097">
                  <a:extLst>
                    <a:ext uri="{9D8B030D-6E8A-4147-A177-3AD203B41FA5}">
                      <a16:colId xmlns:a16="http://schemas.microsoft.com/office/drawing/2014/main" val="2159158912"/>
                    </a:ext>
                  </a:extLst>
                </a:gridCol>
              </a:tblGrid>
              <a:tr h="385189">
                <a:tc>
                  <a:txBody>
                    <a:bodyPr/>
                    <a:lstStyle/>
                    <a:p>
                      <a:pPr algn="l">
                        <a:buNone/>
                      </a:pPr>
                      <a:r>
                        <a:rPr lang="en-IN" sz="800" b="0">
                          <a:solidFill>
                            <a:schemeClr val="bg1"/>
                          </a:solidFill>
                          <a:effectLst/>
                        </a:rPr>
                        <a:t>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0">
                          <a:solidFill>
                            <a:schemeClr val="bg1"/>
                          </a:solidFill>
                          <a:effectLst/>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0">
                          <a:solidFill>
                            <a:schemeClr val="bg1"/>
                          </a:solidFill>
                          <a:effectLst/>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0">
                          <a:solidFill>
                            <a:schemeClr val="bg1"/>
                          </a:solidFill>
                          <a:effectLst/>
                        </a:rPr>
                        <a:t>Key Limitation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52451"/>
                  </a:ext>
                </a:extLst>
              </a:tr>
              <a:tr h="620472">
                <a:tc>
                  <a:txBody>
                    <a:bodyPr/>
                    <a:lstStyle/>
                    <a:p>
                      <a:pPr>
                        <a:buNone/>
                      </a:pPr>
                      <a:r>
                        <a:rPr lang="da-DK" sz="800">
                          <a:solidFill>
                            <a:schemeClr val="bg1"/>
                          </a:solidFill>
                          <a:effectLst/>
                        </a:rPr>
                        <a:t>LangChain RAG (Lewis et 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a:solidFill>
                            <a:schemeClr val="bg1"/>
                          </a:solidFill>
                          <a:effectLs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bg1"/>
                          </a:solidFill>
                          <a:effectLst/>
                        </a:rPr>
                        <a:t>Chunks + vector similarity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a:solidFill>
                            <a:schemeClr val="bg1"/>
                          </a:solidFill>
                          <a:effectLst/>
                        </a:rPr>
                        <a:t>No conflict detection; no temporal awareness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5004663"/>
                  </a:ext>
                </a:extLst>
              </a:tr>
              <a:tr h="520648">
                <a:tc>
                  <a:txBody>
                    <a:bodyPr/>
                    <a:lstStyle/>
                    <a:p>
                      <a:pPr>
                        <a:buNone/>
                      </a:pPr>
                      <a:r>
                        <a:rPr lang="en-IN" sz="800">
                          <a:solidFill>
                            <a:schemeClr val="bg1"/>
                          </a:solidFill>
                          <a:effectLst/>
                        </a:rPr>
                        <a:t>Self-RAG (Asai et 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a:solidFill>
                            <a:schemeClr val="bg1"/>
                          </a:solidFill>
                          <a:effectLst/>
                        </a:rPr>
                        <a:t>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bg1"/>
                          </a:solidFill>
                          <a:effectLst/>
                        </a:rPr>
                        <a:t>Self-critiques its own retrieval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a:solidFill>
                            <a:schemeClr val="bg1"/>
                          </a:solidFill>
                          <a:effectLst/>
                        </a:rPr>
                        <a:t>No graph; no temporal decay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755395"/>
                  </a:ext>
                </a:extLst>
              </a:tr>
              <a:tr h="520648">
                <a:tc>
                  <a:txBody>
                    <a:bodyPr/>
                    <a:lstStyle/>
                    <a:p>
                      <a:pPr>
                        <a:buNone/>
                      </a:pPr>
                      <a:r>
                        <a:rPr lang="en-IN" sz="800">
                          <a:solidFill>
                            <a:schemeClr val="bg1"/>
                          </a:solidFill>
                          <a:effectLst/>
                        </a:rPr>
                        <a:t>CRAG (Yan et 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bg1"/>
                          </a:solidFill>
                          <a:effectLst/>
                        </a:rPr>
                        <a: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bg1"/>
                          </a:solidFill>
                          <a:effectLst/>
                        </a:rPr>
                        <a:t>Corrective retrieval via web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bg1"/>
                          </a:solidFill>
                          <a:effectLst/>
                        </a:rPr>
                        <a:t>Cannot resolve intra-corpus conflicts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5267835"/>
                  </a:ext>
                </a:extLst>
              </a:tr>
              <a:tr h="520648">
                <a:tc>
                  <a:txBody>
                    <a:bodyPr/>
                    <a:lstStyle/>
                    <a:p>
                      <a:pPr>
                        <a:buNone/>
                      </a:pPr>
                      <a:r>
                        <a:rPr lang="en-IN" sz="800">
                          <a:solidFill>
                            <a:schemeClr val="bg1"/>
                          </a:solidFill>
                          <a:effectLst/>
                        </a:rPr>
                        <a:t>MADAM-RAG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bg1"/>
                          </a:solidFill>
                          <a:effectLst/>
                        </a:rPr>
                        <a: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bg1"/>
                          </a:solidFill>
                          <a:effectLst/>
                        </a:rPr>
                        <a:t>Multi-agent debate between 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solidFill>
                            <a:schemeClr val="bg1"/>
                          </a:solidFill>
                          <a:effectLst/>
                        </a:rPr>
                        <a:t>Majority vote only; no year per fact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3866341"/>
                  </a:ext>
                </a:extLst>
              </a:tr>
              <a:tr h="809687">
                <a:tc>
                  <a:txBody>
                    <a:bodyPr/>
                    <a:lstStyle/>
                    <a:p>
                      <a:pPr>
                        <a:buNone/>
                      </a:pPr>
                      <a:r>
                        <a:rPr lang="en-IN" sz="800">
                          <a:solidFill>
                            <a:schemeClr val="bg1"/>
                          </a:solidFill>
                          <a:effectLst/>
                        </a:rPr>
                        <a:t>KG-RAG v4 (arXiv:2511.10375)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bg1"/>
                          </a:solidFill>
                          <a:effectLst/>
                        </a:rPr>
                        <a: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solidFill>
                            <a:schemeClr val="bg1"/>
                          </a:solidFill>
                          <a:effectLst/>
                        </a:rPr>
                        <a:t>Knowledge graph + entropy conflict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b="1" dirty="0">
                          <a:solidFill>
                            <a:schemeClr val="bg1"/>
                          </a:solidFill>
                          <a:effectLst/>
                        </a:rPr>
                        <a:t>No year field in schema; score gap = 0.028 </a:t>
                      </a:r>
                    </a:p>
                    <a:p>
                      <a:pPr>
                        <a:buNone/>
                      </a:pPr>
                      <a:r>
                        <a:rPr lang="en-US" sz="800" b="1" dirty="0">
                          <a:solidFill>
                            <a:schemeClr val="bg1"/>
                          </a:solidFill>
                          <a:effectLst/>
                        </a:rPr>
                        <a:t>conflict unresolved</a:t>
                      </a:r>
                      <a:endParaRPr lang="en-US" sz="800" dirty="0">
                        <a:solidFill>
                          <a:schemeClr val="bg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3899441"/>
                  </a:ext>
                </a:extLst>
              </a:tr>
            </a:tbl>
          </a:graphicData>
        </a:graphic>
      </p:graphicFrame>
      <p:sp>
        <p:nvSpPr>
          <p:cNvPr id="5" name="TextBox 4">
            <a:extLst>
              <a:ext uri="{FF2B5EF4-FFF2-40B4-BE49-F238E27FC236}">
                <a16:creationId xmlns:a16="http://schemas.microsoft.com/office/drawing/2014/main" id="{2B97E5DE-0370-B927-F6E4-99AC4C1504A3}"/>
              </a:ext>
            </a:extLst>
          </p:cNvPr>
          <p:cNvSpPr txBox="1"/>
          <p:nvPr/>
        </p:nvSpPr>
        <p:spPr>
          <a:xfrm>
            <a:off x="228647" y="817473"/>
            <a:ext cx="4572000" cy="307777"/>
          </a:xfrm>
          <a:prstGeom prst="rect">
            <a:avLst/>
          </a:prstGeom>
          <a:noFill/>
        </p:spPr>
        <p:txBody>
          <a:bodyPr wrap="square">
            <a:spAutoFit/>
          </a:bodyPr>
          <a:lstStyle/>
          <a:p>
            <a:r>
              <a:rPr lang="en-IN" b="1" i="0" dirty="0">
                <a:solidFill>
                  <a:schemeClr val="bg1"/>
                </a:solidFill>
                <a:effectLst/>
                <a:latin typeface="Segoe WPC"/>
              </a:rPr>
              <a:t>What Others Have Done</a:t>
            </a:r>
            <a:endParaRPr lang="en-IN" dirty="0">
              <a:solidFill>
                <a:schemeClr val="bg1"/>
              </a:solidFill>
            </a:endParaRPr>
          </a:p>
        </p:txBody>
      </p:sp>
      <p:sp>
        <p:nvSpPr>
          <p:cNvPr id="7" name="TextBox 6">
            <a:extLst>
              <a:ext uri="{FF2B5EF4-FFF2-40B4-BE49-F238E27FC236}">
                <a16:creationId xmlns:a16="http://schemas.microsoft.com/office/drawing/2014/main" id="{E1F74F72-8942-33D1-1557-C877C671AB8D}"/>
              </a:ext>
            </a:extLst>
          </p:cNvPr>
          <p:cNvSpPr txBox="1"/>
          <p:nvPr/>
        </p:nvSpPr>
        <p:spPr>
          <a:xfrm>
            <a:off x="4427621" y="851175"/>
            <a:ext cx="4572000" cy="307777"/>
          </a:xfrm>
          <a:prstGeom prst="rect">
            <a:avLst/>
          </a:prstGeom>
          <a:noFill/>
        </p:spPr>
        <p:txBody>
          <a:bodyPr wrap="square">
            <a:spAutoFit/>
          </a:bodyPr>
          <a:lstStyle/>
          <a:p>
            <a:r>
              <a:rPr lang="en-US" b="1" i="0" dirty="0">
                <a:solidFill>
                  <a:schemeClr val="bg1"/>
                </a:solidFill>
                <a:effectLst/>
                <a:latin typeface="Segoe WPC"/>
              </a:rPr>
              <a:t>The Core Problem with All Existing Systems</a:t>
            </a:r>
            <a:endParaRPr lang="en-IN" dirty="0">
              <a:solidFill>
                <a:schemeClr val="bg1"/>
              </a:solidFill>
            </a:endParaRPr>
          </a:p>
        </p:txBody>
      </p:sp>
      <p:sp>
        <p:nvSpPr>
          <p:cNvPr id="9" name="TextBox 8">
            <a:extLst>
              <a:ext uri="{FF2B5EF4-FFF2-40B4-BE49-F238E27FC236}">
                <a16:creationId xmlns:a16="http://schemas.microsoft.com/office/drawing/2014/main" id="{37F2F1EA-8D84-2048-76EA-2F13F32E8461}"/>
              </a:ext>
            </a:extLst>
          </p:cNvPr>
          <p:cNvSpPr txBox="1"/>
          <p:nvPr/>
        </p:nvSpPr>
        <p:spPr>
          <a:xfrm>
            <a:off x="4427621" y="1266414"/>
            <a:ext cx="4109596" cy="1607415"/>
          </a:xfrm>
          <a:prstGeom prst="rect">
            <a:avLst/>
          </a:prstGeom>
          <a:noFill/>
        </p:spPr>
        <p:txBody>
          <a:bodyPr wrap="square">
            <a:spAutoFit/>
          </a:bodyPr>
          <a:lstStyle/>
          <a:p>
            <a:r>
              <a:rPr lang="en-US" b="0" i="0" dirty="0">
                <a:solidFill>
                  <a:schemeClr val="bg1"/>
                </a:solidFill>
                <a:effectLst/>
                <a:latin typeface="Segoe WPC"/>
              </a:rPr>
              <a:t>Every system above  including the most recent  stores facts without a year field. When a 1985 fact and a 2023 fact contradict each other, their retrieval scores differ by only </a:t>
            </a:r>
            <a:r>
              <a:rPr lang="en-US" b="1" i="0" dirty="0">
                <a:solidFill>
                  <a:schemeClr val="bg1"/>
                </a:solidFill>
                <a:effectLst/>
                <a:latin typeface="Segoe WPC"/>
              </a:rPr>
              <a:t>0.028</a:t>
            </a:r>
            <a:r>
              <a:rPr lang="en-US" b="0" i="0" dirty="0">
                <a:solidFill>
                  <a:schemeClr val="bg1"/>
                </a:solidFill>
                <a:effectLst/>
                <a:latin typeface="Segoe WPC"/>
              </a:rPr>
              <a:t> (computed live). This is below the elimination threshold of 0.30 — so </a:t>
            </a:r>
            <a:r>
              <a:rPr lang="en-US" b="1" i="0" dirty="0">
                <a:solidFill>
                  <a:schemeClr val="bg1"/>
                </a:solidFill>
                <a:effectLst/>
                <a:latin typeface="Segoe WPC"/>
              </a:rPr>
              <a:t>both contradicting facts reach the LLM</a:t>
            </a:r>
            <a:r>
              <a:rPr lang="en-US" b="0" i="0" dirty="0">
                <a:solidFill>
                  <a:schemeClr val="bg1"/>
                </a:solidFill>
                <a:effectLst/>
                <a:latin typeface="Segoe WPC"/>
              </a:rPr>
              <a:t>, and it hedges.</a:t>
            </a:r>
            <a:endParaRPr lang="en-IN" dirty="0">
              <a:solidFill>
                <a:schemeClr val="bg1"/>
              </a:solidFill>
            </a:endParaRPr>
          </a:p>
        </p:txBody>
      </p:sp>
      <p:sp>
        <p:nvSpPr>
          <p:cNvPr id="11" name="TextBox 10">
            <a:extLst>
              <a:ext uri="{FF2B5EF4-FFF2-40B4-BE49-F238E27FC236}">
                <a16:creationId xmlns:a16="http://schemas.microsoft.com/office/drawing/2014/main" id="{5F437AFB-3C12-7F4E-CE50-38E8653909FA}"/>
              </a:ext>
            </a:extLst>
          </p:cNvPr>
          <p:cNvSpPr txBox="1"/>
          <p:nvPr/>
        </p:nvSpPr>
        <p:spPr>
          <a:xfrm>
            <a:off x="4427621" y="3141350"/>
            <a:ext cx="4572000" cy="1815882"/>
          </a:xfrm>
          <a:prstGeom prst="rect">
            <a:avLst/>
          </a:prstGeom>
          <a:noFill/>
        </p:spPr>
        <p:txBody>
          <a:bodyPr wrap="square">
            <a:spAutoFit/>
          </a:bodyPr>
          <a:lstStyle/>
          <a:p>
            <a:pPr algn="l">
              <a:buNone/>
            </a:pPr>
            <a:r>
              <a:rPr lang="en-US" b="1" i="0" dirty="0">
                <a:solidFill>
                  <a:schemeClr val="bg1"/>
                </a:solidFill>
                <a:effectLst/>
                <a:latin typeface="Segoe WPC"/>
              </a:rPr>
              <a:t>How </a:t>
            </a:r>
            <a:r>
              <a:rPr lang="en-US" b="1" i="0" dirty="0" err="1">
                <a:solidFill>
                  <a:schemeClr val="bg1"/>
                </a:solidFill>
                <a:effectLst/>
                <a:latin typeface="Segoe WPC"/>
              </a:rPr>
              <a:t>TruthfulRAG</a:t>
            </a:r>
            <a:r>
              <a:rPr lang="en-US" b="1" i="0" dirty="0">
                <a:solidFill>
                  <a:schemeClr val="bg1"/>
                </a:solidFill>
                <a:effectLst/>
                <a:latin typeface="Segoe WPC"/>
              </a:rPr>
              <a:t> v5 Solves This</a:t>
            </a:r>
            <a:endParaRPr lang="en-US" b="0" i="0" dirty="0">
              <a:solidFill>
                <a:schemeClr val="bg1"/>
              </a:solidFill>
              <a:effectLst/>
              <a:latin typeface="Segoe WPC"/>
            </a:endParaRPr>
          </a:p>
          <a:p>
            <a:pPr algn="l"/>
            <a:r>
              <a:rPr lang="en-US" b="0" i="0" dirty="0">
                <a:solidFill>
                  <a:schemeClr val="bg1"/>
                </a:solidFill>
                <a:effectLst/>
                <a:latin typeface="Segoe WPC"/>
              </a:rPr>
              <a:t>Stores </a:t>
            </a:r>
            <a:r>
              <a:rPr lang="en-US" b="0" i="0" dirty="0">
                <a:solidFill>
                  <a:schemeClr val="bg1"/>
                </a:solidFill>
                <a:effectLst/>
                <a:latin typeface="ui-monospace"/>
              </a:rPr>
              <a:t>(head, relation, tail, year, </a:t>
            </a:r>
            <a:r>
              <a:rPr lang="en-US" b="0" i="0" dirty="0" err="1">
                <a:solidFill>
                  <a:schemeClr val="bg1"/>
                </a:solidFill>
                <a:effectLst/>
                <a:latin typeface="ui-monospace"/>
              </a:rPr>
              <a:t>support_count</a:t>
            </a:r>
            <a:r>
              <a:rPr lang="en-US" b="0" i="0" dirty="0">
                <a:solidFill>
                  <a:schemeClr val="bg1"/>
                </a:solidFill>
                <a:effectLst/>
                <a:latin typeface="ui-monospace"/>
              </a:rPr>
              <a:t>)</a:t>
            </a:r>
            <a:r>
              <a:rPr lang="en-US" b="0" i="0" dirty="0">
                <a:solidFill>
                  <a:schemeClr val="bg1"/>
                </a:solidFill>
                <a:effectLst/>
                <a:latin typeface="Segoe WPC"/>
              </a:rPr>
              <a:t>  a five-field schema</a:t>
            </a:r>
          </a:p>
          <a:p>
            <a:pPr algn="l"/>
            <a:r>
              <a:rPr lang="en-US" b="0" i="0" dirty="0">
                <a:solidFill>
                  <a:schemeClr val="bg1"/>
                </a:solidFill>
                <a:effectLst/>
                <a:latin typeface="Segoe WPC"/>
              </a:rPr>
              <a:t>Applies </a:t>
            </a:r>
            <a:r>
              <a:rPr lang="en-US" b="0" i="0" dirty="0">
                <a:solidFill>
                  <a:schemeClr val="bg1"/>
                </a:solidFill>
                <a:effectLst/>
                <a:latin typeface="ui-monospace"/>
              </a:rPr>
              <a:t>exp(−0.08 × age)</a:t>
            </a:r>
            <a:r>
              <a:rPr lang="en-US" b="0" i="0" dirty="0">
                <a:solidFill>
                  <a:schemeClr val="bg1"/>
                </a:solidFill>
                <a:effectLst/>
                <a:latin typeface="Segoe WPC"/>
              </a:rPr>
              <a:t> decay at query time</a:t>
            </a:r>
          </a:p>
          <a:p>
            <a:pPr algn="l"/>
            <a:r>
              <a:rPr lang="en-US" b="0" i="0" dirty="0">
                <a:solidFill>
                  <a:schemeClr val="bg1"/>
                </a:solidFill>
                <a:effectLst/>
                <a:latin typeface="Segoe WPC"/>
              </a:rPr>
              <a:t>Score gap between same conflicting facts becomes </a:t>
            </a:r>
            <a:r>
              <a:rPr lang="en-US" b="1" i="0" dirty="0">
                <a:solidFill>
                  <a:schemeClr val="bg1"/>
                </a:solidFill>
                <a:effectLst/>
                <a:latin typeface="Segoe WPC"/>
              </a:rPr>
              <a:t>1.126</a:t>
            </a:r>
            <a:r>
              <a:rPr lang="en-US" b="0" i="0" dirty="0">
                <a:solidFill>
                  <a:schemeClr val="bg1"/>
                </a:solidFill>
                <a:effectLst/>
                <a:latin typeface="Segoe WPC"/>
              </a:rPr>
              <a:t>  stale fact is eliminated </a:t>
            </a:r>
            <a:r>
              <a:rPr lang="en-US" b="0" i="1" dirty="0">
                <a:solidFill>
                  <a:schemeClr val="bg1"/>
                </a:solidFill>
                <a:effectLst/>
                <a:latin typeface="Segoe WPC"/>
              </a:rPr>
              <a:t>before</a:t>
            </a:r>
            <a:r>
              <a:rPr lang="en-US" b="0" i="0" dirty="0">
                <a:solidFill>
                  <a:schemeClr val="bg1"/>
                </a:solidFill>
                <a:effectLst/>
                <a:latin typeface="Segoe WPC"/>
              </a:rPr>
              <a:t> it reaches the LLM</a:t>
            </a:r>
          </a:p>
          <a:p>
            <a:pPr algn="l"/>
            <a:r>
              <a:rPr lang="en-US" b="0" i="0" dirty="0">
                <a:solidFill>
                  <a:schemeClr val="bg1"/>
                </a:solidFill>
                <a:effectLst/>
                <a:latin typeface="Segoe WPC"/>
              </a:rPr>
              <a:t>Result: </a:t>
            </a:r>
            <a:r>
              <a:rPr lang="en-US" b="1" i="0" dirty="0">
                <a:solidFill>
                  <a:schemeClr val="bg1"/>
                </a:solidFill>
                <a:effectLst/>
                <a:latin typeface="Segoe WPC"/>
              </a:rPr>
              <a:t>2× conflict resolution rate</a:t>
            </a:r>
            <a:r>
              <a:rPr lang="en-US" b="0" i="0" dirty="0">
                <a:solidFill>
                  <a:schemeClr val="bg1"/>
                </a:solidFill>
                <a:effectLst/>
                <a:latin typeface="Segoe WPC"/>
              </a:rPr>
              <a:t> over all baselines</a:t>
            </a:r>
          </a:p>
        </p:txBody>
      </p:sp>
    </p:spTree>
    <p:extLst>
      <p:ext uri="{BB962C8B-B14F-4D97-AF65-F5344CB8AC3E}">
        <p14:creationId xmlns:p14="http://schemas.microsoft.com/office/powerpoint/2010/main" val="3550582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2966074-8761-5049-A10B-E914A7BB6B57}"/>
              </a:ext>
            </a:extLst>
          </p:cNvPr>
          <p:cNvGraphicFramePr>
            <a:graphicFrameLocks noGrp="1"/>
          </p:cNvGraphicFramePr>
          <p:nvPr>
            <p:extLst>
              <p:ext uri="{D42A27DB-BD31-4B8C-83A1-F6EECF244321}">
                <p14:modId xmlns:p14="http://schemas.microsoft.com/office/powerpoint/2010/main" val="3478517350"/>
              </p:ext>
            </p:extLst>
          </p:nvPr>
        </p:nvGraphicFramePr>
        <p:xfrm>
          <a:off x="256146" y="1152653"/>
          <a:ext cx="4315854" cy="1182876"/>
        </p:xfrm>
        <a:graphic>
          <a:graphicData uri="http://schemas.openxmlformats.org/drawingml/2006/table">
            <a:tbl>
              <a:tblPr>
                <a:tableStyleId>{3C2FFA5D-87B4-456A-9821-1D502468CF0F}</a:tableStyleId>
              </a:tblPr>
              <a:tblGrid>
                <a:gridCol w="1438618">
                  <a:extLst>
                    <a:ext uri="{9D8B030D-6E8A-4147-A177-3AD203B41FA5}">
                      <a16:colId xmlns:a16="http://schemas.microsoft.com/office/drawing/2014/main" val="3548070758"/>
                    </a:ext>
                  </a:extLst>
                </a:gridCol>
                <a:gridCol w="1438618">
                  <a:extLst>
                    <a:ext uri="{9D8B030D-6E8A-4147-A177-3AD203B41FA5}">
                      <a16:colId xmlns:a16="http://schemas.microsoft.com/office/drawing/2014/main" val="958617972"/>
                    </a:ext>
                  </a:extLst>
                </a:gridCol>
                <a:gridCol w="1438618">
                  <a:extLst>
                    <a:ext uri="{9D8B030D-6E8A-4147-A177-3AD203B41FA5}">
                      <a16:colId xmlns:a16="http://schemas.microsoft.com/office/drawing/2014/main" val="835688340"/>
                    </a:ext>
                  </a:extLst>
                </a:gridCol>
              </a:tblGrid>
              <a:tr h="193718">
                <a:tc>
                  <a:txBody>
                    <a:bodyPr/>
                    <a:lstStyle/>
                    <a:p>
                      <a:pPr algn="l">
                        <a:buNone/>
                      </a:pPr>
                      <a:endParaRPr lang="en-IN" sz="900" b="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endParaRPr lang="en-IN" sz="900" b="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endParaRPr lang="en-IN" sz="900" b="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3658794"/>
                  </a:ext>
                </a:extLst>
              </a:tr>
              <a:tr h="318092">
                <a:tc>
                  <a:txBody>
                    <a:bodyPr/>
                    <a:lstStyle/>
                    <a:p>
                      <a:pPr>
                        <a:buNone/>
                      </a:pPr>
                      <a:endParaRPr lang="en-IN" sz="9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IN" sz="9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IN" sz="9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7920534"/>
                  </a:ext>
                </a:extLst>
              </a:tr>
              <a:tr h="318092">
                <a:tc>
                  <a:txBody>
                    <a:bodyPr/>
                    <a:lstStyle/>
                    <a:p>
                      <a:pPr>
                        <a:buNone/>
                      </a:pPr>
                      <a:endParaRPr lang="en-IN" sz="9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IN" sz="9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IN" sz="90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7625606"/>
                  </a:ext>
                </a:extLst>
              </a:tr>
              <a:tr h="318092">
                <a:tc>
                  <a:txBody>
                    <a:bodyPr/>
                    <a:lstStyle/>
                    <a:p>
                      <a:pPr>
                        <a:buNone/>
                      </a:pPr>
                      <a:endParaRPr lang="en-IN" sz="90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IN" sz="9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IN" sz="9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4657923"/>
                  </a:ext>
                </a:extLst>
              </a:tr>
            </a:tbl>
          </a:graphicData>
        </a:graphic>
      </p:graphicFrame>
      <p:sp>
        <p:nvSpPr>
          <p:cNvPr id="5" name="TextBox 4">
            <a:extLst>
              <a:ext uri="{FF2B5EF4-FFF2-40B4-BE49-F238E27FC236}">
                <a16:creationId xmlns:a16="http://schemas.microsoft.com/office/drawing/2014/main" id="{7194B980-4009-2F96-4A21-EC55E74193CD}"/>
              </a:ext>
            </a:extLst>
          </p:cNvPr>
          <p:cNvSpPr txBox="1"/>
          <p:nvPr/>
        </p:nvSpPr>
        <p:spPr>
          <a:xfrm>
            <a:off x="162450" y="776052"/>
            <a:ext cx="4572000" cy="261610"/>
          </a:xfrm>
          <a:prstGeom prst="rect">
            <a:avLst/>
          </a:prstGeom>
          <a:noFill/>
        </p:spPr>
        <p:txBody>
          <a:bodyPr wrap="square">
            <a:spAutoFit/>
          </a:bodyPr>
          <a:lstStyle/>
          <a:p>
            <a:r>
              <a:rPr lang="fr-FR" sz="1100" b="1" i="0" dirty="0" err="1">
                <a:solidFill>
                  <a:srgbClr val="CCCCCC"/>
                </a:solidFill>
                <a:effectLst/>
                <a:latin typeface="Segoe WPC"/>
              </a:rPr>
              <a:t>HaluEval</a:t>
            </a:r>
            <a:r>
              <a:rPr lang="fr-FR" sz="1100" b="1" i="0" dirty="0">
                <a:solidFill>
                  <a:srgbClr val="CCCCCC"/>
                </a:solidFill>
                <a:effectLst/>
                <a:latin typeface="Segoe WPC"/>
              </a:rPr>
              <a:t> (200 Questions, Hallucination Rejection)</a:t>
            </a:r>
            <a:endParaRPr lang="en-IN" sz="1100" dirty="0"/>
          </a:p>
        </p:txBody>
      </p:sp>
      <p:sp>
        <p:nvSpPr>
          <p:cNvPr id="7" name="TextBox 6">
            <a:extLst>
              <a:ext uri="{FF2B5EF4-FFF2-40B4-BE49-F238E27FC236}">
                <a16:creationId xmlns:a16="http://schemas.microsoft.com/office/drawing/2014/main" id="{45A42549-5D77-7D50-D416-D166EA00209F}"/>
              </a:ext>
            </a:extLst>
          </p:cNvPr>
          <p:cNvSpPr txBox="1"/>
          <p:nvPr/>
        </p:nvSpPr>
        <p:spPr>
          <a:xfrm>
            <a:off x="4813468" y="1367534"/>
            <a:ext cx="3911981" cy="1015663"/>
          </a:xfrm>
          <a:prstGeom prst="rect">
            <a:avLst/>
          </a:prstGeom>
          <a:noFill/>
        </p:spPr>
        <p:txBody>
          <a:bodyPr wrap="square">
            <a:spAutoFit/>
          </a:bodyPr>
          <a:lstStyle/>
          <a:p>
            <a:r>
              <a:rPr lang="en-US" sz="1200" i="0" dirty="0">
                <a:solidFill>
                  <a:srgbClr val="CCCCCC"/>
                </a:solidFill>
                <a:effectLst/>
                <a:latin typeface="Segoe WPC"/>
              </a:rPr>
              <a:t>14.5 percentage points over </a:t>
            </a:r>
            <a:r>
              <a:rPr lang="en-US" sz="1200" i="0" dirty="0" err="1">
                <a:solidFill>
                  <a:srgbClr val="CCCCCC"/>
                </a:solidFill>
                <a:effectLst/>
                <a:latin typeface="Segoe WPC"/>
              </a:rPr>
              <a:t>LangChain</a:t>
            </a:r>
            <a:r>
              <a:rPr lang="en-US" sz="1200" i="0" dirty="0">
                <a:solidFill>
                  <a:srgbClr val="CCCCCC"/>
                </a:solidFill>
                <a:effectLst/>
                <a:latin typeface="Segoe WPC"/>
              </a:rPr>
              <a:t> on hallucination rejection. </a:t>
            </a:r>
            <a:r>
              <a:rPr lang="en-US" sz="1200" i="1" dirty="0">
                <a:solidFill>
                  <a:srgbClr val="CCCCCC"/>
                </a:solidFill>
                <a:effectLst/>
                <a:latin typeface="Segoe WPC"/>
              </a:rPr>
              <a:t>(</a:t>
            </a:r>
            <a:r>
              <a:rPr lang="en-US" sz="1200" i="1" dirty="0" err="1">
                <a:solidFill>
                  <a:srgbClr val="CCCCCC"/>
                </a:solidFill>
                <a:effectLst/>
                <a:latin typeface="Segoe WPC"/>
              </a:rPr>
              <a:t>LangChain's</a:t>
            </a:r>
            <a:r>
              <a:rPr lang="en-US" sz="1200" i="1" dirty="0">
                <a:solidFill>
                  <a:srgbClr val="CCCCCC"/>
                </a:solidFill>
                <a:effectLst/>
                <a:latin typeface="Segoe WPC"/>
              </a:rPr>
              <a:t> high EM is a known paradox  it copies context verbatim and matches gold substrings, but still answers incorrectly. HRR is the correct metric.)</a:t>
            </a:r>
            <a:endParaRPr lang="en-IN" sz="1200" dirty="0"/>
          </a:p>
        </p:txBody>
      </p:sp>
      <p:graphicFrame>
        <p:nvGraphicFramePr>
          <p:cNvPr id="8" name="Table 7">
            <a:extLst>
              <a:ext uri="{FF2B5EF4-FFF2-40B4-BE49-F238E27FC236}">
                <a16:creationId xmlns:a16="http://schemas.microsoft.com/office/drawing/2014/main" id="{8C623628-FA82-0BA4-E36A-C3502EA75698}"/>
              </a:ext>
            </a:extLst>
          </p:cNvPr>
          <p:cNvGraphicFramePr>
            <a:graphicFrameLocks noGrp="1"/>
          </p:cNvGraphicFramePr>
          <p:nvPr>
            <p:extLst>
              <p:ext uri="{D42A27DB-BD31-4B8C-83A1-F6EECF244321}">
                <p14:modId xmlns:p14="http://schemas.microsoft.com/office/powerpoint/2010/main" val="269657465"/>
              </p:ext>
            </p:extLst>
          </p:nvPr>
        </p:nvGraphicFramePr>
        <p:xfrm>
          <a:off x="256146" y="3039609"/>
          <a:ext cx="4384608" cy="1602372"/>
        </p:xfrm>
        <a:graphic>
          <a:graphicData uri="http://schemas.openxmlformats.org/drawingml/2006/table">
            <a:tbl>
              <a:tblPr>
                <a:tableStyleId>{3C2FFA5D-87B4-456A-9821-1D502468CF0F}</a:tableStyleId>
              </a:tblPr>
              <a:tblGrid>
                <a:gridCol w="1096152">
                  <a:extLst>
                    <a:ext uri="{9D8B030D-6E8A-4147-A177-3AD203B41FA5}">
                      <a16:colId xmlns:a16="http://schemas.microsoft.com/office/drawing/2014/main" val="3078026887"/>
                    </a:ext>
                  </a:extLst>
                </a:gridCol>
                <a:gridCol w="1096152">
                  <a:extLst>
                    <a:ext uri="{9D8B030D-6E8A-4147-A177-3AD203B41FA5}">
                      <a16:colId xmlns:a16="http://schemas.microsoft.com/office/drawing/2014/main" val="478191713"/>
                    </a:ext>
                  </a:extLst>
                </a:gridCol>
                <a:gridCol w="1096152">
                  <a:extLst>
                    <a:ext uri="{9D8B030D-6E8A-4147-A177-3AD203B41FA5}">
                      <a16:colId xmlns:a16="http://schemas.microsoft.com/office/drawing/2014/main" val="2585587236"/>
                    </a:ext>
                  </a:extLst>
                </a:gridCol>
                <a:gridCol w="1096152">
                  <a:extLst>
                    <a:ext uri="{9D8B030D-6E8A-4147-A177-3AD203B41FA5}">
                      <a16:colId xmlns:a16="http://schemas.microsoft.com/office/drawing/2014/main" val="1668616438"/>
                    </a:ext>
                  </a:extLst>
                </a:gridCol>
              </a:tblGrid>
              <a:tr h="310604">
                <a:tc>
                  <a:txBody>
                    <a:bodyPr/>
                    <a:lstStyle/>
                    <a:p>
                      <a:pPr algn="l">
                        <a:buNone/>
                      </a:pPr>
                      <a:r>
                        <a:rPr lang="en-IN" sz="800" b="0">
                          <a:solidFill>
                            <a:schemeClr val="tx1"/>
                          </a:solidFill>
                          <a:effectLst/>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0">
                          <a:solidFill>
                            <a:schemeClr val="tx1"/>
                          </a:solidFill>
                          <a:effectLst/>
                        </a:rPr>
                        <a:t>LangChain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0" dirty="0">
                          <a:solidFill>
                            <a:schemeClr val="tx1"/>
                          </a:solidFill>
                          <a:effectLst/>
                        </a:rPr>
                        <a:t>KG-RAG v4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b="1">
                          <a:solidFill>
                            <a:schemeClr val="tx1"/>
                          </a:solidFill>
                          <a:effectLst/>
                        </a:rPr>
                        <a:t>TruthfulRAG v5</a:t>
                      </a:r>
                      <a:endParaRPr lang="en-IN" sz="800" b="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6035596"/>
                  </a:ext>
                </a:extLst>
              </a:tr>
              <a:tr h="310604">
                <a:tc>
                  <a:txBody>
                    <a:bodyPr/>
                    <a:lstStyle/>
                    <a:p>
                      <a:pPr>
                        <a:buNone/>
                      </a:pPr>
                      <a:r>
                        <a:rPr lang="en-IN" sz="800">
                          <a:solidFill>
                            <a:schemeClr val="tx1"/>
                          </a:solidFill>
                          <a:effectLst/>
                        </a:rPr>
                        <a:t>Conflict Detection Rate (CDR%)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b="1">
                          <a:solidFill>
                            <a:schemeClr val="tx1"/>
                          </a:solidFill>
                          <a:effectLst/>
                        </a:rPr>
                        <a:t>50.0</a:t>
                      </a:r>
                      <a:endParaRPr lang="en-IN" sz="80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5650462"/>
                  </a:ext>
                </a:extLst>
              </a:tr>
              <a:tr h="310604">
                <a:tc>
                  <a:txBody>
                    <a:bodyPr/>
                    <a:lstStyle/>
                    <a:p>
                      <a:pPr>
                        <a:buNone/>
                      </a:pPr>
                      <a:r>
                        <a:rPr lang="en-IN" sz="800">
                          <a:solidFill>
                            <a:schemeClr val="tx1"/>
                          </a:solidFill>
                          <a:effectLst/>
                        </a:rPr>
                        <a:t>Temporal Accuracy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a:solidFill>
                            <a:schemeClr val="tx1"/>
                          </a:solidFill>
                          <a:effectLst/>
                        </a:rPr>
                        <a:t>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35.7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b="1" dirty="0">
                          <a:solidFill>
                            <a:schemeClr val="tx1"/>
                          </a:solidFill>
                          <a:effectLst/>
                        </a:rPr>
                        <a:t>35.7</a:t>
                      </a:r>
                      <a:endParaRPr lang="en-IN" sz="8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8819274"/>
                  </a:ext>
                </a:extLst>
              </a:tr>
              <a:tr h="310604">
                <a:tc>
                  <a:txBody>
                    <a:bodyPr/>
                    <a:lstStyle/>
                    <a:p>
                      <a:pPr>
                        <a:buNone/>
                      </a:pPr>
                      <a:r>
                        <a:rPr lang="en-IN" sz="800">
                          <a:solidFill>
                            <a:schemeClr val="tx1"/>
                          </a:solidFill>
                          <a:effectLst/>
                        </a:rPr>
                        <a:t>Exact Match (EM%)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31.2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b="1" dirty="0">
                          <a:solidFill>
                            <a:schemeClr val="tx1"/>
                          </a:solidFill>
                          <a:effectLst/>
                        </a:rPr>
                        <a:t>33.6</a:t>
                      </a:r>
                      <a:endParaRPr lang="en-IN" sz="8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262162"/>
                  </a:ext>
                </a:extLst>
              </a:tr>
              <a:tr h="310604">
                <a:tc>
                  <a:txBody>
                    <a:bodyPr/>
                    <a:lstStyle/>
                    <a:p>
                      <a:pPr>
                        <a:buNone/>
                      </a:pPr>
                      <a:r>
                        <a:rPr lang="en-IN" sz="800">
                          <a:solidFill>
                            <a:schemeClr val="tx1"/>
                          </a:solidFill>
                          <a:effectLst/>
                        </a:rPr>
                        <a:t>Confidence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dirty="0">
                          <a:solidFill>
                            <a:schemeClr val="tx1"/>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800" b="1" dirty="0">
                          <a:solidFill>
                            <a:schemeClr val="tx1"/>
                          </a:solidFill>
                          <a:effectLst/>
                        </a:rPr>
                        <a:t>29.4% </a:t>
                      </a:r>
                      <a:r>
                        <a:rPr lang="en-IN" sz="800" b="1" dirty="0" err="1">
                          <a:solidFill>
                            <a:schemeClr val="tx1"/>
                          </a:solidFill>
                          <a:effectLst/>
                        </a:rPr>
                        <a:t>avg</a:t>
                      </a:r>
                      <a:endParaRPr lang="en-IN" sz="8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9350609"/>
                  </a:ext>
                </a:extLst>
              </a:tr>
            </a:tbl>
          </a:graphicData>
        </a:graphic>
      </p:graphicFrame>
      <p:sp>
        <p:nvSpPr>
          <p:cNvPr id="10" name="TextBox 9">
            <a:extLst>
              <a:ext uri="{FF2B5EF4-FFF2-40B4-BE49-F238E27FC236}">
                <a16:creationId xmlns:a16="http://schemas.microsoft.com/office/drawing/2014/main" id="{C1175112-7AB3-85B3-66CA-47A63EB7080C}"/>
              </a:ext>
            </a:extLst>
          </p:cNvPr>
          <p:cNvSpPr txBox="1"/>
          <p:nvPr/>
        </p:nvSpPr>
        <p:spPr>
          <a:xfrm>
            <a:off x="4843569" y="3548372"/>
            <a:ext cx="3851780" cy="600164"/>
          </a:xfrm>
          <a:prstGeom prst="rect">
            <a:avLst/>
          </a:prstGeom>
          <a:noFill/>
        </p:spPr>
        <p:txBody>
          <a:bodyPr wrap="square">
            <a:spAutoFit/>
          </a:bodyPr>
          <a:lstStyle/>
          <a:p>
            <a:r>
              <a:rPr lang="en-US" sz="1100" i="0" dirty="0">
                <a:solidFill>
                  <a:srgbClr val="CCCCCC"/>
                </a:solidFill>
                <a:effectLst/>
                <a:latin typeface="Segoe WPC"/>
              </a:rPr>
              <a:t>CDR doubles from 25% to 50% </a:t>
            </a:r>
          </a:p>
          <a:p>
            <a:r>
              <a:rPr lang="en-US" sz="1100" i="0" dirty="0">
                <a:solidFill>
                  <a:srgbClr val="CCCCCC"/>
                </a:solidFill>
                <a:effectLst/>
                <a:latin typeface="Segoe WPC"/>
              </a:rPr>
              <a:t>the primary thesis result. Temporal accuracy improves 2.5× over </a:t>
            </a:r>
            <a:r>
              <a:rPr lang="en-US" sz="1100" i="0" dirty="0" err="1">
                <a:solidFill>
                  <a:srgbClr val="CCCCCC"/>
                </a:solidFill>
                <a:effectLst/>
                <a:latin typeface="Segoe WPC"/>
              </a:rPr>
              <a:t>LangChain</a:t>
            </a:r>
            <a:r>
              <a:rPr lang="en-US" sz="1100" i="0" dirty="0">
                <a:solidFill>
                  <a:srgbClr val="CCCCCC"/>
                </a:solidFill>
                <a:effectLst/>
                <a:latin typeface="Segoe WPC"/>
              </a:rPr>
              <a:t>.</a:t>
            </a:r>
            <a:endParaRPr lang="en-IN" sz="1100" dirty="0"/>
          </a:p>
        </p:txBody>
      </p:sp>
      <p:sp>
        <p:nvSpPr>
          <p:cNvPr id="12" name="TextBox 11">
            <a:extLst>
              <a:ext uri="{FF2B5EF4-FFF2-40B4-BE49-F238E27FC236}">
                <a16:creationId xmlns:a16="http://schemas.microsoft.com/office/drawing/2014/main" id="{FAFBE980-BFF8-AE9E-C12A-99F7ECAA72E8}"/>
              </a:ext>
            </a:extLst>
          </p:cNvPr>
          <p:cNvSpPr txBox="1"/>
          <p:nvPr/>
        </p:nvSpPr>
        <p:spPr>
          <a:xfrm>
            <a:off x="162450" y="2629499"/>
            <a:ext cx="4572000" cy="261610"/>
          </a:xfrm>
          <a:prstGeom prst="rect">
            <a:avLst/>
          </a:prstGeom>
          <a:noFill/>
        </p:spPr>
        <p:txBody>
          <a:bodyPr wrap="square">
            <a:spAutoFit/>
          </a:bodyPr>
          <a:lstStyle/>
          <a:p>
            <a:r>
              <a:rPr lang="en-IN" sz="1100" b="1" i="0" dirty="0">
                <a:solidFill>
                  <a:srgbClr val="CCCCCC"/>
                </a:solidFill>
                <a:effectLst/>
                <a:latin typeface="Segoe WPC"/>
              </a:rPr>
              <a:t>Benchmark 2 - Conflict &amp; Temporal (125 Queries)</a:t>
            </a:r>
            <a:endParaRPr lang="en-IN"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58"/>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DF6A3EF2-CD16-E0F4-3656-AF14248E705E}"/>
                  </a:ext>
                </a:extLst>
              </p14:cNvPr>
              <p14:cNvContentPartPr/>
              <p14:nvPr/>
            </p14:nvContentPartPr>
            <p14:xfrm>
              <a:off x="686656" y="3546110"/>
              <a:ext cx="503640" cy="185040"/>
            </p14:xfrm>
          </p:contentPart>
        </mc:Choice>
        <mc:Fallback xmlns="">
          <p:pic>
            <p:nvPicPr>
              <p:cNvPr id="6" name="Ink 5">
                <a:extLst>
                  <a:ext uri="{FF2B5EF4-FFF2-40B4-BE49-F238E27FC236}">
                    <a16:creationId xmlns:a16="http://schemas.microsoft.com/office/drawing/2014/main" id="{DF6A3EF2-CD16-E0F4-3656-AF14248E705E}"/>
                  </a:ext>
                </a:extLst>
              </p:cNvPr>
              <p:cNvPicPr/>
              <p:nvPr/>
            </p:nvPicPr>
            <p:blipFill>
              <a:blip r:embed="rId4"/>
              <a:stretch>
                <a:fillRect/>
              </a:stretch>
            </p:blipFill>
            <p:spPr>
              <a:xfrm>
                <a:off x="623656" y="3483110"/>
                <a:ext cx="62928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D7891561-F342-908C-F2B2-2E178632E554}"/>
                  </a:ext>
                </a:extLst>
              </p14:cNvPr>
              <p14:cNvContentPartPr/>
              <p14:nvPr/>
            </p14:nvContentPartPr>
            <p14:xfrm>
              <a:off x="-899220" y="662820"/>
              <a:ext cx="360" cy="360"/>
            </p14:xfrm>
          </p:contentPart>
        </mc:Choice>
        <mc:Fallback xmlns="">
          <p:pic>
            <p:nvPicPr>
              <p:cNvPr id="8" name="Ink 7">
                <a:extLst>
                  <a:ext uri="{FF2B5EF4-FFF2-40B4-BE49-F238E27FC236}">
                    <a16:creationId xmlns:a16="http://schemas.microsoft.com/office/drawing/2014/main" id="{D7891561-F342-908C-F2B2-2E178632E554}"/>
                  </a:ext>
                </a:extLst>
              </p:cNvPr>
              <p:cNvPicPr/>
              <p:nvPr/>
            </p:nvPicPr>
            <p:blipFill>
              <a:blip r:embed="rId6"/>
              <a:stretch>
                <a:fillRect/>
              </a:stretch>
            </p:blipFill>
            <p:spPr>
              <a:xfrm>
                <a:off x="-962220" y="5998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FB41E392-7289-3053-3E9B-D18CC16FE9C0}"/>
                  </a:ext>
                </a:extLst>
              </p14:cNvPr>
              <p14:cNvContentPartPr/>
              <p14:nvPr/>
            </p14:nvContentPartPr>
            <p14:xfrm>
              <a:off x="-854580" y="685860"/>
              <a:ext cx="17280" cy="972720"/>
            </p14:xfrm>
          </p:contentPart>
        </mc:Choice>
        <mc:Fallback xmlns="">
          <p:pic>
            <p:nvPicPr>
              <p:cNvPr id="9" name="Ink 8">
                <a:extLst>
                  <a:ext uri="{FF2B5EF4-FFF2-40B4-BE49-F238E27FC236}">
                    <a16:creationId xmlns:a16="http://schemas.microsoft.com/office/drawing/2014/main" id="{FB41E392-7289-3053-3E9B-D18CC16FE9C0}"/>
                  </a:ext>
                </a:extLst>
              </p:cNvPr>
              <p:cNvPicPr/>
              <p:nvPr/>
            </p:nvPicPr>
            <p:blipFill>
              <a:blip r:embed="rId8"/>
              <a:stretch>
                <a:fillRect/>
              </a:stretch>
            </p:blipFill>
            <p:spPr>
              <a:xfrm>
                <a:off x="-917220" y="622860"/>
                <a:ext cx="142920" cy="1098360"/>
              </a:xfrm>
              <a:prstGeom prst="rect">
                <a:avLst/>
              </a:prstGeom>
            </p:spPr>
          </p:pic>
        </mc:Fallback>
      </mc:AlternateContent>
      <p:sp>
        <p:nvSpPr>
          <p:cNvPr id="4" name="TextBox 3">
            <a:extLst>
              <a:ext uri="{FF2B5EF4-FFF2-40B4-BE49-F238E27FC236}">
                <a16:creationId xmlns:a16="http://schemas.microsoft.com/office/drawing/2014/main" id="{843BD345-B7D0-2CF5-CBAC-67BA37F06139}"/>
              </a:ext>
            </a:extLst>
          </p:cNvPr>
          <p:cNvSpPr txBox="1"/>
          <p:nvPr/>
        </p:nvSpPr>
        <p:spPr>
          <a:xfrm>
            <a:off x="0" y="756958"/>
            <a:ext cx="9144000" cy="307777"/>
          </a:xfrm>
          <a:prstGeom prst="rect">
            <a:avLst/>
          </a:prstGeom>
          <a:solidFill>
            <a:schemeClr val="tx1"/>
          </a:solidFill>
        </p:spPr>
        <p:txBody>
          <a:bodyPr wrap="square">
            <a:spAutoFit/>
          </a:bodyPr>
          <a:lstStyle/>
          <a:p>
            <a:endParaRPr lang="en-IN" dirty="0">
              <a:solidFill>
                <a:schemeClr val="bg1"/>
              </a:solidFill>
              <a:latin typeface="Old Standard TT" panose="020B0604020202020204" charset="0"/>
            </a:endParaRP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636</TotalTime>
  <Words>1357</Words>
  <Application>Microsoft Office PowerPoint</Application>
  <PresentationFormat>On-screen Show (16:9)</PresentationFormat>
  <Paragraphs>201</Paragraphs>
  <Slides>10</Slides>
  <Notes>9</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Old Standard TT</vt:lpstr>
      <vt:lpstr>Segoe WPC</vt:lpstr>
      <vt:lpstr>ui-monospace</vt:lpstr>
      <vt:lpstr>Arial</vt:lpstr>
      <vt:lpstr>Paperback</vt:lpstr>
      <vt:lpstr>PowerPoint Presentation</vt:lpstr>
      <vt:lpstr>PowerPoint Presentation</vt:lpstr>
      <vt:lpstr>PowerPoint Presentation</vt:lpstr>
      <vt:lpstr>Proposed System / Architecture</vt:lpstr>
      <vt:lpstr> Result &amp; Analysis</vt:lpstr>
      <vt:lpstr>PowerPoint Presentation</vt:lpstr>
      <vt:lpstr>PowerPoint Presentation</vt:lpstr>
      <vt:lpstr>Background/Existing Work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Eesh Saxena</dc:creator>
  <cp:lastModifiedBy>Eesh Saxena</cp:lastModifiedBy>
  <cp:revision>16</cp:revision>
  <dcterms:modified xsi:type="dcterms:W3CDTF">2026-04-29T05:38:57Z</dcterms:modified>
</cp:coreProperties>
</file>