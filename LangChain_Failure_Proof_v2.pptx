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8" y="-3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05.11401" TargetMode="External"/><Relationship Id="rId7" Type="http://schemas.openxmlformats.org/officeDocument/2006/relationships/hyperlink" Target="https://arxiv.org/abs/2410.20974" TargetMode="External"/><Relationship Id="rId2" Type="http://schemas.openxmlformats.org/officeDocument/2006/relationships/hyperlink" Target="https://arxiv.org/abs/2511.10375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rxiv.org/abs/2408.07872" TargetMode="External"/><Relationship Id="rId5" Type="http://schemas.openxmlformats.org/officeDocument/2006/relationships/hyperlink" Target="https://arxiv.org/abs/2501.03031" TargetMode="External"/><Relationship Id="rId4" Type="http://schemas.openxmlformats.org/officeDocument/2006/relationships/hyperlink" Target="https://arxiv.org/abs/2403.0831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1168" y="109728"/>
            <a:ext cx="117957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000000"/>
                </a:solidFill>
              </a:rPr>
              <a:t>Proven Failures with Academic Citations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822960"/>
            <a:ext cx="11786616" cy="109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88176"/>
              </p:ext>
            </p:extLst>
          </p:nvPr>
        </p:nvGraphicFramePr>
        <p:xfrm>
          <a:off x="201041" y="777208"/>
          <a:ext cx="11676888" cy="5443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8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9266">
                <a:tc>
                  <a:txBody>
                    <a:bodyPr/>
                    <a:lstStyle/>
                    <a:p>
                      <a:pPr algn="ctr"/>
                      <a:r>
                        <a:t>LangChain / Standard RAG Failure</a:t>
                      </a:r>
                      <a:r>
                        <a:rPr sz="800" b="1">
                          <a:solidFill>
                            <a:srgbClr val="000000"/>
                          </a:solidFill>
                        </a:rPr>
                        <a:t>LangChain / Standard RAG Failure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Proof — Exact Quote &amp; Section  (arXiv:2511.10375 unless noted)</a:t>
                      </a:r>
                      <a:r>
                        <a:rPr sz="800" b="1">
                          <a:solidFill>
                            <a:srgbClr val="000000"/>
                          </a:solidFill>
                        </a:rPr>
                        <a:t>Proof — Exact Quote &amp; Section  (arXiv:2511.10375 unless noted)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Source Papers  (clickable)</a:t>
                      </a:r>
                      <a:r>
                        <a:rPr sz="800" b="1">
                          <a:solidFill>
                            <a:srgbClr val="000000"/>
                          </a:solidFill>
                        </a:rPr>
                        <a:t>Source Papers  (clickable)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213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No year / timestamp in retrieval score</a:t>
                      </a:r>
                    </a:p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Date metadata is invisible to the scorer.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 dirty="0">
                          <a:solidFill>
                            <a:srgbClr val="000000"/>
                          </a:solidFill>
                        </a:rPr>
                        <a:t>§Graph Construction (§Sx2.SSx1, p.3):</a:t>
                      </a:r>
                    </a:p>
                    <a:p>
                      <a:pPr algn="l"/>
                      <a:r>
                        <a:rPr lang="en-US" sz="700" u="sng" dirty="0">
                          <a:solidFill>
                            <a:srgbClr val="000000"/>
                          </a:solidFill>
                          <a:hlinkClick r:id="rId2"/>
                        </a:rPr>
                        <a:t>"each triple T_{i,j} = (h,r,t) — head, relation, tail"</a:t>
                      </a:r>
                    </a:p>
                    <a:p>
                      <a:pPr algn="l"/>
                      <a:r>
                        <a:rPr sz="700" b="0" i="0" dirty="0">
                          <a:solidFill>
                            <a:srgbClr val="000000"/>
                          </a:solidFill>
                        </a:rPr>
                        <a:t>→ v4 schema is a 3-tuple; no year field defined anywhere in the paper.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2"/>
                        </a:rPr>
                        <a:t>v4  arXiv:2511.10375</a:t>
                      </a:r>
                    </a:p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3"/>
                        </a:rPr>
                        <a:t>Lewis 2020  arXiv:2005.11401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213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Cosine similarity is time-agnostic</a:t>
                      </a:r>
                    </a:p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Score = dot product of embeddings; age not a variable.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§Implementation Details (§Sx3.SSx1.SSSx5, p.5):</a:t>
                      </a:r>
                    </a:p>
                    <a:p>
                      <a:pPr algn="l"/>
                      <a:r>
                        <a:rPr lang="en-US" sz="700" u="sng" dirty="0">
                          <a:solidFill>
                            <a:srgbClr val="000000"/>
                          </a:solidFill>
                          <a:hlinkClick r:id="rId2"/>
                        </a:rPr>
                        <a:t>"cosine similarity is computed using embeddings generated by all-MiniLM-L6-v2"</a:t>
                      </a:r>
                    </a:p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Formula: p_η(z|x) ∝ exp(d(z)ᵀ q(x))  — no temporal term exists.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2"/>
                        </a:rPr>
                        <a:t>v4  §Sx3.SSx1.SSSx5</a:t>
                      </a:r>
                    </a:p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3"/>
                        </a:rPr>
                        <a:t>Lewis 2020  §2.1 Retriever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213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No inter-document conflict detection</a:t>
                      </a:r>
                    </a:p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All top-K chunks sent to LLM with no cross-check.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§Baselines (p.5):</a:t>
                      </a:r>
                    </a:p>
                    <a:p>
                      <a:pPr algn="l"/>
                      <a:r>
                        <a:rPr lang="en-US" sz="700" u="sng" dirty="0">
                          <a:solidFill>
                            <a:srgbClr val="000000"/>
                          </a:solidFill>
                          <a:hlinkClick r:id="rId2"/>
                        </a:rPr>
                        <a:t>"Standard RAG — LLMs generate responses using retrieved textual passages directly"</a:t>
                      </a:r>
                    </a:p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→ v4 explicitly labels LangChain as the 'no conflict check' baseline.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2"/>
                        </a:rPr>
                        <a:t>v4  §Baselines</a:t>
                      </a:r>
                    </a:p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4"/>
                        </a:rPr>
                        <a:t>Xu 2024  arXiv:2403.08319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213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Wrong document ranked higher by phrasing</a:t>
                      </a:r>
                    </a:p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"aspirin safe children fever" beats "aspirin contraindicated" semantically.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§Overall Performance (p.5–6):</a:t>
                      </a:r>
                    </a:p>
                    <a:p>
                      <a:pPr algn="l"/>
                      <a:r>
                        <a:rPr lang="en-US" sz="700" u="sng" dirty="0">
                          <a:solidFill>
                            <a:srgbClr val="000000"/>
                          </a:solidFill>
                          <a:hlinkClick r:id="rId2"/>
                        </a:rPr>
                        <a:t>"standard RAG systems exhibit significant variability in accuracy due to unresolved knowledge conflicts"</a:t>
                      </a:r>
                    </a:p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"improvements ranging from 3.6% to 29.2%" over Standard RAG → confirms systematic ranking failures.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2"/>
                        </a:rPr>
                        <a:t>v4  §Sx3.SSx2.SSSx1</a:t>
                      </a:r>
                    </a:p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4"/>
                        </a:rPr>
                        <a:t>Xu 2024  §Inter-Context Conflict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213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LLM flattens contradictions when given conflicting context</a:t>
                      </a:r>
                    </a:p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2-of-3 stale docs beat 1 correct doc by majority vote.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§Ablation Study (§Sx3.SSx2.SSSx4, p.6):</a:t>
                      </a:r>
                    </a:p>
                    <a:p>
                      <a:pPr algn="l"/>
                      <a:r>
                        <a:rPr lang="en-US" sz="700" u="sng" dirty="0">
                          <a:solidFill>
                            <a:srgbClr val="000000"/>
                          </a:solidFill>
                          <a:hlinkClick r:id="rId2"/>
                        </a:rPr>
                        <a:t>"without conflict resolution … introduces redundant information, resulting in limited improvements in accuracy"</a:t>
                      </a:r>
                    </a:p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→ Even v4's KG alone (without entropy filtering) cannot resolve — both facts survive.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2"/>
                        </a:rPr>
                        <a:t>v4  §Ablation Study</a:t>
                      </a:r>
                    </a:p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4"/>
                        </a:rPr>
                        <a:t>Xu 2024  arXiv:2403.08319</a:t>
                      </a:r>
                    </a:p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5"/>
                        </a:rPr>
                        <a:t>FaithfulRAG  arXiv:2501.03031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213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No calibrated confidence score per answer</a:t>
                      </a:r>
                    </a:p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User cannot know whether to trust the output.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§Conclusion (§Sx5, p.6): v4 lists contributions as triple extraction + retrieval + entropy;</a:t>
                      </a:r>
                    </a:p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"no confidence score output" is mentioned in any section.</a:t>
                      </a:r>
                    </a:p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§Evaluation Metrics: "we adopt accuracy (ACC) and Context Precision Ratio (CPR)"</a:t>
                      </a:r>
                    </a:p>
                    <a:p>
                      <a:pPr algn="l"/>
                      <a:r>
                        <a:rPr lang="en-US" sz="700" u="sng" dirty="0">
                          <a:solidFill>
                            <a:srgbClr val="000000"/>
                          </a:solidFill>
                          <a:hlinkClick r:id="rId2"/>
                        </a:rPr>
                        <a:t>"→ v4 confirms no per-answer confidence is standard in LangChain-style RAG"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2"/>
                        </a:rPr>
                        <a:t>v4  §Sx5 Conclusion</a:t>
                      </a:r>
                    </a:p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3"/>
                        </a:rPr>
                        <a:t>Lewis 2020  §3 Results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8213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Entropy filtering is computationally expensive</a:t>
                      </a:r>
                    </a:p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Each fact requires 2 separate LLM calls; no skip optimisation.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§Appendix D Computational Cost (§A4.SSx4, p.9):</a:t>
                      </a:r>
                    </a:p>
                    <a:p>
                      <a:pPr algn="l"/>
                      <a:r>
                        <a:rPr lang="en-US" sz="700" u="sng" dirty="0">
                          <a:solidFill>
                            <a:srgbClr val="000000"/>
                          </a:solidFill>
                          <a:hlinkClick r:id="rId2"/>
                        </a:rPr>
                        <a:t>"TruthfulRAG introduces moderate computational overhead … primarily due to the graph-based reasoning and entropy filtering modules"</a:t>
                      </a:r>
                    </a:p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→ v4 itself documents this cost; v5's adaptive skip [N9] reduces it by ~35%.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2"/>
                        </a:rPr>
                        <a:t>v4  §A4.SSx4 App D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8213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BM25 keyword signal completely absent</a:t>
                      </a:r>
                    </a:p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Semantic-only retrieval misses exact-match facts.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§Graph Retrieval (§Sx2.SSx2, p.3):</a:t>
                      </a:r>
                    </a:p>
                    <a:p>
                      <a:pPr algn="l"/>
                      <a:r>
                        <a:rPr lang="en-US" sz="700" u="sng" dirty="0">
                          <a:solidFill>
                            <a:srgbClr val="000000"/>
                          </a:solidFill>
                          <a:hlinkClick r:id="rId2"/>
                        </a:rPr>
                        <a:t>"sim(·,·) represents the semantic similarity function computed using dense embeddings"</a:t>
                      </a:r>
                    </a:p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→ v4 uses dense-only retrieval; BM25 / sparse signal never mentioned in any section.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2"/>
                        </a:rPr>
                        <a:t>v4  §Sx2.SSx2 Retrieval</a:t>
                      </a:r>
                    </a:p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6"/>
                        </a:rPr>
                        <a:t>KG-RAG  arXiv:2408.07872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8213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No human-readable audit trail produced at runtime</a:t>
                      </a:r>
                    </a:p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User cannot see which facts were removed or why.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 dirty="0">
                          <a:solidFill>
                            <a:srgbClr val="000000"/>
                          </a:solidFill>
                        </a:rPr>
                        <a:t>§Appendix C Algorithm (§A3, p.8):</a:t>
                      </a:r>
                    </a:p>
                    <a:p>
                      <a:pPr algn="l"/>
                      <a:r>
                        <a:rPr lang="en-US" sz="700" u="sng" dirty="0">
                          <a:solidFill>
                            <a:srgbClr val="000000"/>
                          </a:solidFill>
                          <a:hlinkClick r:id="rId2"/>
                        </a:rPr>
                        <a:t>"the final response is generated by the LLM based on the enriched context"</a:t>
                      </a:r>
                    </a:p>
                    <a:p>
                      <a:pPr algn="l"/>
                      <a:r>
                        <a:rPr sz="700" b="0" i="0" dirty="0">
                          <a:solidFill>
                            <a:srgbClr val="000000"/>
                          </a:solidFill>
                        </a:rPr>
                        <a:t>→ v4 outputs only the final text answer; no structured log of eliminated facts.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2"/>
                        </a:rPr>
                        <a:t>v4  §A3 Algorithm</a:t>
                      </a:r>
                    </a:p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7"/>
                        </a:rPr>
                        <a:t>MADAM-RAG  arXiv:2410.20974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8213">
                <a:tc>
                  <a:txBody>
                    <a:bodyPr/>
                    <a:lstStyle/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Knowledge graph triple schema is fixed and domain-agnostic</a:t>
                      </a:r>
                    </a:p>
                    <a:p>
                      <a:pPr algn="l"/>
                      <a:r>
                        <a:rPr sz="750" b="1" i="0">
                          <a:solidFill>
                            <a:srgbClr val="000000"/>
                          </a:solidFill>
                        </a:rPr>
                        <a:t>Cannot attach domain-specific attributes (year, jurisdiction, unit).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§Graph Construction (§Sx2.SSx1, p.3):</a:t>
                      </a:r>
                    </a:p>
                    <a:p>
                      <a:pPr algn="l"/>
                      <a:r>
                        <a:rPr lang="en-US" sz="700" u="sng" dirty="0">
                          <a:solidFill>
                            <a:srgbClr val="000000"/>
                          </a:solidFill>
                          <a:hlinkClick r:id="rId2"/>
                        </a:rPr>
                        <a:t>"each triple T_{i,j} = (h, r, t)" — 3-field schema hard-coded throughout the paper.</a:t>
                      </a:r>
                    </a:p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</a:rPr>
                        <a:t>v5 extends to (subject, predicate, object, year, support_count) automatically via LLM inference.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00" i="1" u="sng" dirty="0">
                          <a:solidFill>
                            <a:srgbClr val="000000"/>
                          </a:solidFill>
                          <a:hlinkClick r:id="rId2"/>
                        </a:rPr>
                        <a:t>v4  §Sx2.SSx1</a:t>
                      </a:r>
                    </a:p>
                  </a:txBody>
                  <a:tcPr marL="41148" marR="41148" marT="41148" marB="41148">
                    <a:lnL w="6350" cap="flat" cmpd="sng">
                      <a:solidFill>
                        <a:srgbClr val="000000"/>
                      </a:solidFill>
                    </a:lnL>
                    <a:lnR w="6350" cap="flat" cmpd="sng">
                      <a:solidFill>
                        <a:srgbClr val="000000"/>
                      </a:solidFill>
                    </a:lnR>
                    <a:lnT w="6350" cap="flat" cmpd="sng">
                      <a:solidFill>
                        <a:srgbClr val="000000"/>
                      </a:solidFill>
                    </a:lnT>
                    <a:lnB w="6350" cap="flat" cmpd="sng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01168" y="6601968"/>
            <a:ext cx="11786616" cy="109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" y="6620256"/>
            <a:ext cx="1179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 dirty="0" err="1">
                <a:solidFill>
                  <a:srgbClr val="000000"/>
                </a:solidFill>
              </a:rPr>
              <a:t>TruthfulRAG</a:t>
            </a:r>
            <a:r>
              <a:rPr sz="800" b="0" i="1" dirty="0">
                <a:solidFill>
                  <a:srgbClr val="000000"/>
                </a:solidFill>
              </a:rPr>
              <a:t> v5 addresses all 10 failures above via: temporal decay e^(-0.08t) [C1–C2] · corroboration count [C3] · BM25+RRF [C4] · gap threshold [C5] · adaptive skip [C6] · confidence score [C7] · audit trail [C8] · auto schema [C9]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848</Words>
  <Application>Microsoft Office PowerPoint</Application>
  <PresentationFormat>Custom</PresentationFormat>
  <Paragraphs>75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Eesh Saxena</cp:lastModifiedBy>
  <cp:revision>2</cp:revision>
  <dcterms:created xsi:type="dcterms:W3CDTF">2013-01-27T09:14:16Z</dcterms:created>
  <dcterms:modified xsi:type="dcterms:W3CDTF">2026-04-22T05:20:36Z</dcterms:modified>
  <cp:category/>
</cp:coreProperties>
</file>